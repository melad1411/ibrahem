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56.png" ContentType="image/png"/>
  <Override PartName="/ppt/media/image55.png" ContentType="image/png"/>
  <Override PartName="/ppt/media/image54.png" ContentType="image/png"/>
  <Override PartName="/ppt/media/image102.png" ContentType="image/png"/>
  <Override PartName="/ppt/media/image53.png" ContentType="image/png"/>
  <Override PartName="/ppt/media/image101.png" ContentType="image/png"/>
  <Override PartName="/ppt/media/image52.png" ContentType="image/png"/>
  <Override PartName="/ppt/media/image100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13.png" ContentType="image/png"/>
  <Override PartName="/ppt/media/image4.png" ContentType="image/png"/>
  <Override PartName="/ppt/media/image36.png" ContentType="image/png"/>
  <Override PartName="/ppt/media/image9.png" ContentType="image/png"/>
  <Override PartName="/ppt/media/image18.png" ContentType="image/png"/>
  <Override PartName="/ppt/media/image83.png" ContentType="image/png"/>
  <Override PartName="/ppt/media/image57.png" ContentType="image/png"/>
  <Override PartName="/ppt/media/image20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82.png" ContentType="image/png"/>
  <Override PartName="/ppt/media/image48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81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70.png" ContentType="image/png"/>
  <Override PartName="/ppt/media/image69.png" ContentType="image/png"/>
  <Override PartName="/ppt/media/image71.png" ContentType="image/png"/>
  <Override PartName="/ppt/media/image72.png" ContentType="image/png"/>
  <Override PartName="/ppt/media/image73.png" ContentType="image/png"/>
  <Override PartName="/ppt/media/image74.png" ContentType="image/png"/>
  <Override PartName="/ppt/media/image75.png" ContentType="image/png"/>
  <Override PartName="/ppt/media/image76.png" ContentType="image/png"/>
  <Override PartName="/ppt/media/image64.png" ContentType="image/png"/>
  <Override PartName="/ppt/media/image99.png" ContentType="image/png"/>
  <Override PartName="/ppt/media/image62.png" ContentType="image/png"/>
  <Override PartName="/ppt/media/image87.png" ContentType="image/png"/>
  <Override PartName="/ppt/media/image63.png" ContentType="image/png"/>
  <Override PartName="/ppt/media/image98.png" ContentType="image/png"/>
  <Override PartName="/ppt/media/image61.png" ContentType="image/png"/>
  <Override PartName="/ppt/media/image86.png" ContentType="image/png"/>
  <Override PartName="/ppt/media/image97.png" ContentType="image/png"/>
  <Override PartName="/ppt/media/image60.png" ContentType="image/png"/>
  <Override PartName="/ppt/media/image85.png" ContentType="image/png"/>
  <Override PartName="/ppt/media/image96.png" ContentType="image/png"/>
  <Override PartName="/ppt/media/image95.png" ContentType="image/png"/>
  <Override PartName="/ppt/media/image89.png" ContentType="image/png"/>
  <Override PartName="/ppt/media/image77.png" ContentType="image/png"/>
  <Override PartName="/ppt/media/image88.png" ContentType="image/png"/>
  <Override PartName="/ppt/media/image79.png" ContentType="image/png"/>
  <Override PartName="/ppt/media/image78.png" ContentType="image/png"/>
  <Override PartName="/ppt/media/image29.png" ContentType="image/png"/>
  <Override PartName="/ppt/media/image94.png" ContentType="image/png"/>
  <Override PartName="/ppt/media/image28.png" ContentType="image/png"/>
  <Override PartName="/ppt/media/image93.png" ContentType="image/png"/>
  <Override PartName="/ppt/media/image92.png" ContentType="image/png"/>
  <Override PartName="/ppt/media/image27.png" ContentType="image/png"/>
  <Override PartName="/ppt/media/image91.png" ContentType="image/png"/>
  <Override PartName="/ppt/media/image26.png" ContentType="image/png"/>
  <Override PartName="/ppt/media/image90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59.png" ContentType="image/png"/>
  <Override PartName="/ppt/media/image21.png" ContentType="image/png"/>
  <Override PartName="/ppt/media/image58.png" ContentType="image/png"/>
  <Override PartName="/ppt/media/image19.png" ContentType="image/png"/>
  <Override PartName="/ppt/media/image84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80.png" ContentType="image/png"/>
  <Override PartName="/ppt/media/image6.png" ContentType="image/png"/>
  <Override PartName="/ppt/media/image38.png" ContentType="image/png"/>
  <Override PartName="/ppt/media/image33.png" ContentType="image/png"/>
  <Override PartName="/ppt/media/image1.png" ContentType="image/png"/>
  <Override PartName="/ppt/media/image10.png" ContentType="image/png"/>
  <Override PartName="/ppt/media/image4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B0CF84-C99C-4F9A-9ED4-884834B9B0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D815F3-F711-4E8B-BDEE-83809FBC0B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6E0A542-0106-4C67-AD48-F72B9596C0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2B1F9B5-DCAE-47F3-8C37-60E6EC90F9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6025838-6FB9-4214-84C3-8A5B74FB65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27EE454-183A-4228-8CC4-B31E675B00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069055A-BE37-49C9-A684-60E752C902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2949282-C1DE-46E5-870D-E35A7C64B4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0D85A40-4A38-4986-8101-835DC6EC64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534249B-7312-45B0-97D0-E8D4CFC786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783A1E2-0BB2-4B88-9BA9-2E6F5FAE29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492C58-8AEE-4A0E-A68E-A99BD9B54F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8AFBCE-D72D-4B9E-8432-75DCD24066A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9E41C3-35A7-4AEE-BDCA-F8D4D8F2C86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26DF65-BC94-48C2-BEFE-F13FA29EAD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84FE1A-D179-40FF-A5D9-5F4C4C1433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D48E60-E7EA-46A2-A3A0-72F0483FBB5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B70C44-6625-4010-BCBB-AA269D0112F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3A4786-9092-467E-8386-DBF5C392AA3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0A7C18-06E3-4D89-A37F-E236586BD6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F67024-28F4-4D63-B5FF-7FC6083882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1FB1DB-D1C6-4A6D-BC34-DF33544734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17.png"/><Relationship Id="rId9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2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1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48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46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0.png"/><Relationship Id="rId3" Type="http://schemas.openxmlformats.org/officeDocument/2006/relationships/image" Target="../media/image60.png"/><Relationship Id="rId4" Type="http://schemas.openxmlformats.org/officeDocument/2006/relationships/image" Target="../media/image60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46.png"/><Relationship Id="rId9" Type="http://schemas.openxmlformats.org/officeDocument/2006/relationships/image" Target="../media/image63.png"/><Relationship Id="rId10" Type="http://schemas.openxmlformats.org/officeDocument/2006/relationships/image" Target="../media/image63.png"/><Relationship Id="rId11" Type="http://schemas.openxmlformats.org/officeDocument/2006/relationships/image" Target="../media/image63.png"/><Relationship Id="rId1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64.png"/><Relationship Id="rId5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6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64.png"/><Relationship Id="rId6" Type="http://schemas.openxmlformats.org/officeDocument/2006/relationships/image" Target="../media/image81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9.png"/><Relationship Id="rId3" Type="http://schemas.openxmlformats.org/officeDocument/2006/relationships/image" Target="../media/image88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1.png"/><Relationship Id="rId7" Type="http://schemas.openxmlformats.org/officeDocument/2006/relationships/image" Target="../media/image91.png"/><Relationship Id="rId8" Type="http://schemas.openxmlformats.org/officeDocument/2006/relationships/image" Target="../media/image91.png"/><Relationship Id="rId9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88.png"/><Relationship Id="rId5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4.png"/><Relationship Id="rId3" Type="http://schemas.openxmlformats.org/officeDocument/2006/relationships/image" Target="../media/image7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00.png"/><Relationship Id="rId3" Type="http://schemas.openxmlformats.org/officeDocument/2006/relationships/image" Target="../media/image60.png"/><Relationship Id="rId4" Type="http://schemas.openxmlformats.org/officeDocument/2006/relationships/image" Target="../media/image60.png"/><Relationship Id="rId5" Type="http://schemas.openxmlformats.org/officeDocument/2006/relationships/image" Target="../media/image60.png"/><Relationship Id="rId6" Type="http://schemas.openxmlformats.org/officeDocument/2006/relationships/image" Target="../media/image60.png"/><Relationship Id="rId7" Type="http://schemas.openxmlformats.org/officeDocument/2006/relationships/image" Target="../media/image96.png"/><Relationship Id="rId8" Type="http://schemas.openxmlformats.org/officeDocument/2006/relationships/image" Target="../media/image63.png"/><Relationship Id="rId9" Type="http://schemas.openxmlformats.org/officeDocument/2006/relationships/image" Target="../media/image63.png"/><Relationship Id="rId10" Type="http://schemas.openxmlformats.org/officeDocument/2006/relationships/image" Target="../media/image63.png"/><Relationship Id="rId1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1.png"/><Relationship Id="rId2" Type="http://schemas.openxmlformats.org/officeDocument/2006/relationships/image" Target="../media/image102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2" descr="image.png"/>
          <p:cNvPicPr/>
          <p:nvPr/>
        </p:nvPicPr>
        <p:blipFill>
          <a:blip r:embed="rId2"/>
          <a:stretch/>
        </p:blipFill>
        <p:spPr>
          <a:xfrm>
            <a:off x="4052880" y="2162160"/>
            <a:ext cx="4086000" cy="313920"/>
          </a:xfrm>
          <a:prstGeom prst="rect">
            <a:avLst/>
          </a:prstGeom>
          <a:ln w="0">
            <a:noFill/>
          </a:ln>
        </p:spPr>
      </p:pic>
      <p:pic>
        <p:nvPicPr>
          <p:cNvPr id="69" name="Picture 3" descr="image.png"/>
          <p:cNvPicPr/>
          <p:nvPr/>
        </p:nvPicPr>
        <p:blipFill>
          <a:blip r:embed="rId3"/>
          <a:stretch/>
        </p:blipFill>
        <p:spPr>
          <a:xfrm>
            <a:off x="2824200" y="4095720"/>
            <a:ext cx="6543360" cy="599760"/>
          </a:xfrm>
          <a:prstGeom prst="rect">
            <a:avLst/>
          </a:prstGeom>
          <a:ln w="0">
            <a:noFill/>
          </a:ln>
        </p:spPr>
      </p:pic>
      <p:sp>
        <p:nvSpPr>
          <p:cNvPr id="70" name="TextBox 4"/>
          <p:cNvSpPr/>
          <p:nvPr/>
        </p:nvSpPr>
        <p:spPr>
          <a:xfrm>
            <a:off x="7291440" y="4343400"/>
            <a:ext cx="2076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050" spc="-1" strike="noStrike">
                <a:solidFill>
                  <a:srgbClr val="94a3b8"/>
                </a:solidFill>
                <a:latin typeface="Tajawal"/>
              </a:rPr>
              <a:t>إعداد الطالبة</a:t>
            </a:r>
            <a:r>
              <a:rPr b="0" lang="en-US" sz="1050" spc="-1" strike="noStrike">
                <a:solidFill>
                  <a:srgbClr val="94a3b8"/>
                </a:solidFill>
                <a:latin typeface="Tajawal"/>
              </a:rPr>
              <a:t>: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7291440" y="4505400"/>
            <a:ext cx="20761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f8fafc"/>
                </a:solidFill>
                <a:latin typeface="Tajawal"/>
              </a:rPr>
              <a:t>شذا (الرقم الجامعي: </a:t>
            </a:r>
            <a:r>
              <a:rPr b="1" lang="en-US" sz="1280" spc="-1" strike="noStrike">
                <a:solidFill>
                  <a:srgbClr val="f8fafc"/>
                </a:solidFill>
                <a:latin typeface="Tajawal"/>
              </a:rPr>
              <a:t>160476</a:t>
            </a:r>
            <a:r>
              <a:rPr b="1" lang="en-US" sz="1280" spc="-1" strike="noStrike">
                <a:solidFill>
                  <a:srgbClr val="f8fafc"/>
                </a:solidFill>
                <a:latin typeface="Tajawal"/>
              </a:rPr>
              <a:t>)</a:t>
            </a:r>
            <a:endParaRPr b="0" lang="en-US" sz="12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5700600" y="4343400"/>
            <a:ext cx="11142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050" spc="-1" strike="noStrike">
                <a:solidFill>
                  <a:srgbClr val="94a3b8"/>
                </a:solidFill>
                <a:latin typeface="Tajawal"/>
              </a:rPr>
              <a:t>إشراف الدكتور</a:t>
            </a:r>
            <a:r>
              <a:rPr b="0" lang="en-US" sz="1050" spc="-1" strike="noStrike">
                <a:solidFill>
                  <a:srgbClr val="94a3b8"/>
                </a:solidFill>
                <a:latin typeface="Tajawal"/>
              </a:rPr>
              <a:t>: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5700600" y="4505400"/>
            <a:ext cx="111420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f8fafc"/>
                </a:solidFill>
                <a:latin typeface="Tajawal"/>
              </a:rPr>
              <a:t>د. محمد شايطة</a:t>
            </a:r>
            <a:endParaRPr b="0" lang="en-US" sz="12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2824200" y="4343400"/>
            <a:ext cx="2400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050" spc="-1" strike="noStrike">
                <a:solidFill>
                  <a:srgbClr val="94a3b8"/>
                </a:solidFill>
                <a:latin typeface="Tajawal"/>
              </a:rPr>
              <a:t>الجهة الأكاديمية</a:t>
            </a:r>
            <a:r>
              <a:rPr b="0" lang="en-US" sz="1050" spc="-1" strike="noStrike">
                <a:solidFill>
                  <a:srgbClr val="94a3b8"/>
                </a:solidFill>
                <a:latin typeface="Tajawal"/>
              </a:rPr>
              <a:t>: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2824200" y="4505400"/>
            <a:ext cx="24001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f8fafc"/>
                </a:solidFill>
                <a:latin typeface="Tajawal"/>
              </a:rPr>
              <a:t>الجامعة الافتراضية السورية</a:t>
            </a:r>
            <a:r>
              <a:rPr b="1" lang="en-US" sz="1280" spc="-1" strike="noStrike">
                <a:solidFill>
                  <a:srgbClr val="f8fafc"/>
                </a:solidFill>
                <a:latin typeface="Tajawal"/>
              </a:rPr>
              <a:t> </a:t>
            </a:r>
            <a:r>
              <a:rPr b="1" lang="en-US" sz="1280" spc="-1" strike="noStrike">
                <a:solidFill>
                  <a:srgbClr val="f8fafc"/>
                </a:solidFill>
                <a:latin typeface="Tajawal"/>
              </a:rPr>
              <a:t>(SVU)</a:t>
            </a:r>
            <a:endParaRPr b="0" lang="en-US" sz="12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4000680" y="2666880"/>
            <a:ext cx="41900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4876"/>
              </a:lnSpc>
            </a:pPr>
            <a:r>
              <a:rPr b="1" lang="hi-IN" sz="3900" spc="-1" strike="noStrike">
                <a:solidFill>
                  <a:srgbClr val="ffffff"/>
                </a:solidFill>
                <a:latin typeface="Cairo"/>
              </a:rPr>
              <a:t>فلوريش</a:t>
            </a:r>
            <a:r>
              <a:rPr b="1" lang="en-US" sz="3900" spc="-1" strike="noStrike">
                <a:solidFill>
                  <a:srgbClr val="ffffff"/>
                </a:solidFill>
                <a:latin typeface="Cairo"/>
              </a:rPr>
              <a:t> </a:t>
            </a:r>
            <a:r>
              <a:rPr b="1" lang="en-US" sz="3900" spc="-1" strike="noStrike">
                <a:solidFill>
                  <a:srgbClr val="ffffff"/>
                </a:solidFill>
                <a:latin typeface="Cairo"/>
              </a:rPr>
              <a:t>/ Flourish</a:t>
            </a:r>
            <a:endParaRPr b="0" lang="en-US" sz="3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3252960" y="3429000"/>
            <a:ext cx="5686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2251"/>
              </a:lnSpc>
            </a:pPr>
            <a:r>
              <a:rPr b="0" lang="hi-IN" sz="1500" spc="-1" strike="noStrike">
                <a:solidFill>
                  <a:srgbClr val="cbd5e1"/>
                </a:solidFill>
                <a:latin typeface="Tajawal"/>
              </a:rPr>
              <a:t>مساعد كتابة إبداعية ذكي يتعلّم الصوت والأسلوب الأدبي للكاتب ويحقنه آلياً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79" name="Picture 2" descr="image.png"/>
          <p:cNvPicPr/>
          <p:nvPr/>
        </p:nvPicPr>
        <p:blipFill>
          <a:blip r:embed="rId2"/>
          <a:stretch/>
        </p:blipFill>
        <p:spPr>
          <a:xfrm>
            <a:off x="523800" y="5003280"/>
            <a:ext cx="11143800" cy="485280"/>
          </a:xfrm>
          <a:prstGeom prst="rect">
            <a:avLst/>
          </a:prstGeom>
          <a:ln w="0">
            <a:noFill/>
          </a:ln>
        </p:spPr>
      </p:pic>
      <p:pic>
        <p:nvPicPr>
          <p:cNvPr id="80" name="Picture 3" descr="image.png"/>
          <p:cNvPicPr/>
          <p:nvPr/>
        </p:nvPicPr>
        <p:blipFill>
          <a:blip r:embed="rId3"/>
          <a:stretch/>
        </p:blipFill>
        <p:spPr>
          <a:xfrm>
            <a:off x="8080200" y="2283480"/>
            <a:ext cx="3587400" cy="248148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4" descr="image.png"/>
          <p:cNvPicPr/>
          <p:nvPr/>
        </p:nvPicPr>
        <p:blipFill>
          <a:blip r:embed="rId4"/>
          <a:stretch/>
        </p:blipFill>
        <p:spPr>
          <a:xfrm>
            <a:off x="4302000" y="2283480"/>
            <a:ext cx="3587400" cy="248148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5" descr="image.png"/>
          <p:cNvPicPr/>
          <p:nvPr/>
        </p:nvPicPr>
        <p:blipFill>
          <a:blip r:embed="rId5"/>
          <a:stretch/>
        </p:blipFill>
        <p:spPr>
          <a:xfrm>
            <a:off x="523800" y="2283480"/>
            <a:ext cx="3587400" cy="2481480"/>
          </a:xfrm>
          <a:prstGeom prst="rect">
            <a:avLst/>
          </a:prstGeom>
          <a:ln w="0">
            <a:noFill/>
          </a:ln>
        </p:spPr>
      </p:pic>
      <p:sp>
        <p:nvSpPr>
          <p:cNvPr id="83" name="TextBox 6"/>
          <p:cNvSpPr/>
          <p:nvPr/>
        </p:nvSpPr>
        <p:spPr>
          <a:xfrm>
            <a:off x="6543720" y="428760"/>
            <a:ext cx="5380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المستخلص التنفيذي والرؤية الهندسيّة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Picture 7" descr="image.png"/>
          <p:cNvPicPr/>
          <p:nvPr/>
        </p:nvPicPr>
        <p:blipFill>
          <a:blip r:embed="rId6"/>
          <a:stretch/>
        </p:blipFill>
        <p:spPr>
          <a:xfrm>
            <a:off x="523800" y="552600"/>
            <a:ext cx="1180800" cy="323640"/>
          </a:xfrm>
          <a:prstGeom prst="rect">
            <a:avLst/>
          </a:prstGeom>
          <a:ln w="0">
            <a:noFill/>
          </a:ln>
        </p:spPr>
      </p:pic>
      <p:sp>
        <p:nvSpPr>
          <p:cNvPr id="85" name="TextBox 8"/>
          <p:cNvSpPr/>
          <p:nvPr/>
        </p:nvSpPr>
        <p:spPr>
          <a:xfrm>
            <a:off x="8141760" y="3045240"/>
            <a:ext cx="33066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تخصيص الأسلوب الأدبي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8299440" y="3607200"/>
            <a:ext cx="31492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تجاوز النموذج اللغوي الموحد عبر استخراج بصمة أسلوبية مقيسة إحصائياً وحقنها في كل عملية توليد نصي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4363560" y="3045240"/>
            <a:ext cx="33066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هندسة خفيفة الموارد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11"/>
          <p:cNvSpPr/>
          <p:nvPr/>
        </p:nvSpPr>
        <p:spPr>
          <a:xfrm>
            <a:off x="4521240" y="3607200"/>
            <a:ext cx="31492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اعتماد تقنية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Prompt Injection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والـ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RAG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بدلاً من التكييف الدقيق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Fine-tuning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الباهظ والمكلف لغوياً وحاسوبياً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585360" y="3045240"/>
            <a:ext cx="33066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سيادة البيانات والتنفيذ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3"/>
          <p:cNvSpPr/>
          <p:nvPr/>
        </p:nvSpPr>
        <p:spPr>
          <a:xfrm>
            <a:off x="742680" y="3607200"/>
            <a:ext cx="31492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بيئة عمل مغلقة بالكامل داخل حاويات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Docker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دون أي مشاركة مع خدمات سحابية خارجية، لحماية ملكية النصوص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Picture 14" descr="image.png"/>
          <p:cNvPicPr/>
          <p:nvPr/>
        </p:nvPicPr>
        <p:blipFill>
          <a:blip r:embed="rId7"/>
          <a:stretch/>
        </p:blipFill>
        <p:spPr>
          <a:xfrm>
            <a:off x="11125080" y="2502360"/>
            <a:ext cx="323640" cy="323640"/>
          </a:xfrm>
          <a:prstGeom prst="rect">
            <a:avLst/>
          </a:prstGeom>
          <a:ln w="0">
            <a:noFill/>
          </a:ln>
        </p:spPr>
      </p:pic>
      <p:pic>
        <p:nvPicPr>
          <p:cNvPr id="92" name="Picture 15" descr="image.png"/>
          <p:cNvPicPr/>
          <p:nvPr/>
        </p:nvPicPr>
        <p:blipFill>
          <a:blip r:embed="rId8"/>
          <a:stretch/>
        </p:blipFill>
        <p:spPr>
          <a:xfrm>
            <a:off x="7346880" y="2502360"/>
            <a:ext cx="323640" cy="32364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16" descr="image.png"/>
          <p:cNvPicPr/>
          <p:nvPr/>
        </p:nvPicPr>
        <p:blipFill>
          <a:blip r:embed="rId9"/>
          <a:stretch/>
        </p:blipFill>
        <p:spPr>
          <a:xfrm>
            <a:off x="3568680" y="2502360"/>
            <a:ext cx="323640" cy="32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95" name="Picture 2" descr="image.png"/>
          <p:cNvPicPr/>
          <p:nvPr/>
        </p:nvPicPr>
        <p:blipFill>
          <a:blip r:embed="rId2"/>
          <a:stretch/>
        </p:blipFill>
        <p:spPr>
          <a:xfrm>
            <a:off x="3302640" y="2295360"/>
            <a:ext cx="2626200" cy="151416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3" descr="image.png"/>
          <p:cNvPicPr/>
          <p:nvPr/>
        </p:nvPicPr>
        <p:blipFill>
          <a:blip r:embed="rId3"/>
          <a:stretch/>
        </p:blipFill>
        <p:spPr>
          <a:xfrm>
            <a:off x="523800" y="2295360"/>
            <a:ext cx="2626200" cy="151416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4" descr="image.png"/>
          <p:cNvPicPr/>
          <p:nvPr/>
        </p:nvPicPr>
        <p:blipFill>
          <a:blip r:embed="rId4"/>
          <a:stretch/>
        </p:blipFill>
        <p:spPr>
          <a:xfrm>
            <a:off x="3302640" y="3962520"/>
            <a:ext cx="2626200" cy="1514160"/>
          </a:xfrm>
          <a:prstGeom prst="rect">
            <a:avLst/>
          </a:prstGeom>
          <a:ln w="0">
            <a:noFill/>
          </a:ln>
        </p:spPr>
      </p:pic>
      <p:pic>
        <p:nvPicPr>
          <p:cNvPr id="98" name="Picture 5" descr="image.png"/>
          <p:cNvPicPr/>
          <p:nvPr/>
        </p:nvPicPr>
        <p:blipFill>
          <a:blip r:embed="rId5"/>
          <a:stretch/>
        </p:blipFill>
        <p:spPr>
          <a:xfrm>
            <a:off x="523800" y="3962520"/>
            <a:ext cx="2626200" cy="1514160"/>
          </a:xfrm>
          <a:prstGeom prst="rect">
            <a:avLst/>
          </a:prstGeom>
          <a:ln w="0">
            <a:noFill/>
          </a:ln>
        </p:spPr>
      </p:pic>
      <p:sp>
        <p:nvSpPr>
          <p:cNvPr id="99" name="TextBox 6"/>
          <p:cNvSpPr/>
          <p:nvPr/>
        </p:nvSpPr>
        <p:spPr>
          <a:xfrm>
            <a:off x="4152960" y="428760"/>
            <a:ext cx="78904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الأول: مشكلة الصوت المتوسط في النماذج العامة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Picture 7" descr="image.png"/>
          <p:cNvPicPr/>
          <p:nvPr/>
        </p:nvPicPr>
        <p:blipFill>
          <a:blip r:embed="rId6"/>
          <a:stretch/>
        </p:blipFill>
        <p:spPr>
          <a:xfrm>
            <a:off x="523800" y="552600"/>
            <a:ext cx="971280" cy="323640"/>
          </a:xfrm>
          <a:prstGeom prst="rect">
            <a:avLst/>
          </a:prstGeom>
          <a:ln w="0">
            <a:noFill/>
          </a:ln>
        </p:spPr>
      </p:pic>
      <p:sp>
        <p:nvSpPr>
          <p:cNvPr id="101" name="TextBox 8"/>
          <p:cNvSpPr/>
          <p:nvPr/>
        </p:nvSpPr>
        <p:spPr>
          <a:xfrm>
            <a:off x="6262560" y="2484360"/>
            <a:ext cx="5062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ظاهرة النص النمطي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(Generic Tone):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تُنتج النماذج العامة نصاً متناسقاً إحصائياً لكنه يخلو من التجربة الفردية وصوت الكاتب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9"/>
          <p:cNvSpPr/>
          <p:nvPr/>
        </p:nvSpPr>
        <p:spPr>
          <a:xfrm>
            <a:off x="6262560" y="3185280"/>
            <a:ext cx="5062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انقطاع الذاكرة السردية: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معالجة الطلبات كجلسات معزولة يترتب عليها فقدان الاتساق بين الشخصيات والأحداث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6262560" y="3886200"/>
            <a:ext cx="5062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96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ضعف التخصيص للعربية: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معاملة النص العربي كإنكليزي مترجم يغفل الخصائص الصرفية ووسوم البنية المعجمية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6262560" y="4587120"/>
            <a:ext cx="5062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96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المخاطر السحابية: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التبعية للخوادم الخارجية تهدد سرية الروايات والمسودات الإبداعية قبل نشرها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Picture 12" descr="image.png"/>
          <p:cNvPicPr/>
          <p:nvPr/>
        </p:nvPicPr>
        <p:blipFill>
          <a:blip r:embed="rId7"/>
          <a:stretch/>
        </p:blipFill>
        <p:spPr>
          <a:xfrm>
            <a:off x="3502800" y="2495520"/>
            <a:ext cx="2226240" cy="285480"/>
          </a:xfrm>
          <a:prstGeom prst="rect">
            <a:avLst/>
          </a:prstGeom>
          <a:ln w="0">
            <a:noFill/>
          </a:ln>
        </p:spPr>
      </p:pic>
      <p:sp>
        <p:nvSpPr>
          <p:cNvPr id="106" name="TextBox 13"/>
          <p:cNvSpPr/>
          <p:nvPr/>
        </p:nvSpPr>
        <p:spPr>
          <a:xfrm>
            <a:off x="3391560" y="2876400"/>
            <a:ext cx="23374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991b1b"/>
                </a:solidFill>
                <a:latin typeface="Cairo"/>
              </a:rPr>
              <a:t>النغمة الآلية المكررة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4"/>
          <p:cNvSpPr/>
          <p:nvPr/>
        </p:nvSpPr>
        <p:spPr>
          <a:xfrm>
            <a:off x="3502800" y="3238560"/>
            <a:ext cx="22262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1463"/>
              </a:lnSpc>
            </a:pPr>
            <a:r>
              <a:rPr b="0" lang="hi-IN" sz="980" spc="-1" strike="noStrike">
                <a:solidFill>
                  <a:srgbClr val="7f1d1d"/>
                </a:solidFill>
                <a:latin typeface="Tajawal"/>
              </a:rPr>
              <a:t>نصوص جافة تفتقر للبصمة والروح الأسلوبية الخاصة بالكاتب</a:t>
            </a:r>
            <a:r>
              <a:rPr b="0" lang="en-US" sz="980" spc="-1" strike="noStrike">
                <a:solidFill>
                  <a:srgbClr val="7f1d1d"/>
                </a:solidFill>
                <a:latin typeface="Tajawal"/>
              </a:rPr>
              <a:t>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Picture 15" descr="image.png"/>
          <p:cNvPicPr/>
          <p:nvPr/>
        </p:nvPicPr>
        <p:blipFill>
          <a:blip r:embed="rId8"/>
          <a:stretch/>
        </p:blipFill>
        <p:spPr>
          <a:xfrm>
            <a:off x="723960" y="2495520"/>
            <a:ext cx="2226240" cy="285480"/>
          </a:xfrm>
          <a:prstGeom prst="rect">
            <a:avLst/>
          </a:prstGeom>
          <a:ln w="0">
            <a:noFill/>
          </a:ln>
        </p:spPr>
      </p:pic>
      <p:sp>
        <p:nvSpPr>
          <p:cNvPr id="109" name="TextBox 16"/>
          <p:cNvSpPr/>
          <p:nvPr/>
        </p:nvSpPr>
        <p:spPr>
          <a:xfrm>
            <a:off x="612720" y="2876400"/>
            <a:ext cx="23374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9a3412"/>
                </a:solidFill>
                <a:latin typeface="Cairo"/>
              </a:rPr>
              <a:t>تشتت السرد والذاكرة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7"/>
          <p:cNvSpPr/>
          <p:nvPr/>
        </p:nvSpPr>
        <p:spPr>
          <a:xfrm>
            <a:off x="723960" y="3238560"/>
            <a:ext cx="22262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1463"/>
              </a:lnSpc>
            </a:pPr>
            <a:r>
              <a:rPr b="0" lang="hi-IN" sz="980" spc="-1" strike="noStrike">
                <a:solidFill>
                  <a:srgbClr val="7c2d12"/>
                </a:solidFill>
                <a:latin typeface="Tajawal"/>
              </a:rPr>
              <a:t>فقدان تسلسل الشخصيات والحبكة في النصوص الطويلة</a:t>
            </a:r>
            <a:r>
              <a:rPr b="0" lang="en-US" sz="980" spc="-1" strike="noStrike">
                <a:solidFill>
                  <a:srgbClr val="7c2d12"/>
                </a:solidFill>
                <a:latin typeface="Tajawal"/>
              </a:rPr>
              <a:t>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Picture 18" descr="image.png"/>
          <p:cNvPicPr/>
          <p:nvPr/>
        </p:nvPicPr>
        <p:blipFill>
          <a:blip r:embed="rId9"/>
          <a:stretch/>
        </p:blipFill>
        <p:spPr>
          <a:xfrm>
            <a:off x="3502800" y="4162320"/>
            <a:ext cx="2226240" cy="285480"/>
          </a:xfrm>
          <a:prstGeom prst="rect">
            <a:avLst/>
          </a:prstGeom>
          <a:ln w="0">
            <a:noFill/>
          </a:ln>
        </p:spPr>
      </p:pic>
      <p:sp>
        <p:nvSpPr>
          <p:cNvPr id="112" name="TextBox 19"/>
          <p:cNvSpPr/>
          <p:nvPr/>
        </p:nvSpPr>
        <p:spPr>
          <a:xfrm>
            <a:off x="3391560" y="4543560"/>
            <a:ext cx="23374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0c4a6e"/>
                </a:solidFill>
                <a:latin typeface="Cairo"/>
              </a:rPr>
              <a:t>العجز الصرفي العربي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20"/>
          <p:cNvSpPr/>
          <p:nvPr/>
        </p:nvSpPr>
        <p:spPr>
          <a:xfrm>
            <a:off x="3502800" y="4905360"/>
            <a:ext cx="222624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1463"/>
              </a:lnSpc>
            </a:pPr>
            <a:r>
              <a:rPr b="0" lang="hi-IN" sz="980" spc="-1" strike="noStrike">
                <a:solidFill>
                  <a:srgbClr val="0369a1"/>
                </a:solidFill>
                <a:latin typeface="Tajawal"/>
              </a:rPr>
              <a:t>تجاهل التجزئة والجذور واشتراطات البلاغة العربية</a:t>
            </a:r>
            <a:r>
              <a:rPr b="0" lang="en-US" sz="980" spc="-1" strike="noStrike">
                <a:solidFill>
                  <a:srgbClr val="0369a1"/>
                </a:solidFill>
                <a:latin typeface="Tajawal"/>
              </a:rPr>
              <a:t>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Picture 21" descr="image.png"/>
          <p:cNvPicPr/>
          <p:nvPr/>
        </p:nvPicPr>
        <p:blipFill>
          <a:blip r:embed="rId10"/>
          <a:stretch/>
        </p:blipFill>
        <p:spPr>
          <a:xfrm>
            <a:off x="723960" y="4162320"/>
            <a:ext cx="2226240" cy="285480"/>
          </a:xfrm>
          <a:prstGeom prst="rect">
            <a:avLst/>
          </a:prstGeom>
          <a:ln w="0">
            <a:noFill/>
          </a:ln>
        </p:spPr>
      </p:pic>
      <p:sp>
        <p:nvSpPr>
          <p:cNvPr id="115" name="TextBox 22"/>
          <p:cNvSpPr/>
          <p:nvPr/>
        </p:nvSpPr>
        <p:spPr>
          <a:xfrm>
            <a:off x="612720" y="4543560"/>
            <a:ext cx="23374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مخاطر الخصوصية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23"/>
          <p:cNvSpPr/>
          <p:nvPr/>
        </p:nvSpPr>
        <p:spPr>
          <a:xfrm>
            <a:off x="723960" y="4905360"/>
            <a:ext cx="22262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1463"/>
              </a:lnSpc>
            </a:pPr>
            <a:r>
              <a:rPr b="0" lang="hi-IN" sz="980" spc="-1" strike="noStrike">
                <a:solidFill>
                  <a:srgbClr val="334155"/>
                </a:solidFill>
                <a:latin typeface="Tajawal"/>
              </a:rPr>
              <a:t>تسريب ملكية الأعمال الإبداعية لخوادم الشركات السحابية</a:t>
            </a:r>
            <a:r>
              <a:rPr b="0" lang="en-US" sz="9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Picture 24" descr="image.png"/>
          <p:cNvPicPr/>
          <p:nvPr/>
        </p:nvPicPr>
        <p:blipFill>
          <a:blip r:embed="rId11"/>
          <a:stretch/>
        </p:blipFill>
        <p:spPr>
          <a:xfrm>
            <a:off x="11477520" y="251748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25" descr="image.png"/>
          <p:cNvPicPr/>
          <p:nvPr/>
        </p:nvPicPr>
        <p:blipFill>
          <a:blip r:embed="rId12"/>
          <a:stretch/>
        </p:blipFill>
        <p:spPr>
          <a:xfrm>
            <a:off x="11496600" y="321840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26" descr="image.png"/>
          <p:cNvPicPr/>
          <p:nvPr/>
        </p:nvPicPr>
        <p:blipFill>
          <a:blip r:embed="rId13"/>
          <a:stretch/>
        </p:blipFill>
        <p:spPr>
          <a:xfrm>
            <a:off x="11430000" y="3919680"/>
            <a:ext cx="237600" cy="19980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27" descr="image.png"/>
          <p:cNvPicPr/>
          <p:nvPr/>
        </p:nvPicPr>
        <p:blipFill>
          <a:blip r:embed="rId14"/>
          <a:stretch/>
        </p:blipFill>
        <p:spPr>
          <a:xfrm>
            <a:off x="11430000" y="4620600"/>
            <a:ext cx="237600" cy="19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22" name="Picture 2" descr="image.png"/>
          <p:cNvPicPr/>
          <p:nvPr/>
        </p:nvPicPr>
        <p:blipFill>
          <a:blip r:embed="rId2"/>
          <a:stretch/>
        </p:blipFill>
        <p:spPr>
          <a:xfrm>
            <a:off x="6262560" y="2255760"/>
            <a:ext cx="5405040" cy="197676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3" descr="image.png"/>
          <p:cNvPicPr/>
          <p:nvPr/>
        </p:nvPicPr>
        <p:blipFill>
          <a:blip r:embed="rId3"/>
          <a:stretch/>
        </p:blipFill>
        <p:spPr>
          <a:xfrm>
            <a:off x="523800" y="2255760"/>
            <a:ext cx="5405040" cy="1976760"/>
          </a:xfrm>
          <a:prstGeom prst="rect">
            <a:avLst/>
          </a:prstGeom>
          <a:ln w="0">
            <a:noFill/>
          </a:ln>
        </p:spPr>
      </p:pic>
      <p:pic>
        <p:nvPicPr>
          <p:cNvPr id="124" name="Picture 4" descr="image.png"/>
          <p:cNvPicPr/>
          <p:nvPr/>
        </p:nvPicPr>
        <p:blipFill>
          <a:blip r:embed="rId4"/>
          <a:stretch/>
        </p:blipFill>
        <p:spPr>
          <a:xfrm>
            <a:off x="9024840" y="4470840"/>
            <a:ext cx="2642760" cy="1045440"/>
          </a:xfrm>
          <a:prstGeom prst="rect">
            <a:avLst/>
          </a:prstGeom>
          <a:ln w="0">
            <a:noFill/>
          </a:ln>
        </p:spPr>
      </p:pic>
      <p:pic>
        <p:nvPicPr>
          <p:cNvPr id="125" name="Picture 5" descr="image.png"/>
          <p:cNvPicPr/>
          <p:nvPr/>
        </p:nvPicPr>
        <p:blipFill>
          <a:blip r:embed="rId5"/>
          <a:stretch/>
        </p:blipFill>
        <p:spPr>
          <a:xfrm>
            <a:off x="6191280" y="4470840"/>
            <a:ext cx="2642760" cy="1045440"/>
          </a:xfrm>
          <a:prstGeom prst="rect">
            <a:avLst/>
          </a:prstGeom>
          <a:ln w="0">
            <a:noFill/>
          </a:ln>
        </p:spPr>
      </p:pic>
      <p:pic>
        <p:nvPicPr>
          <p:cNvPr id="126" name="Picture 6" descr="image.png"/>
          <p:cNvPicPr/>
          <p:nvPr/>
        </p:nvPicPr>
        <p:blipFill>
          <a:blip r:embed="rId6"/>
          <a:stretch/>
        </p:blipFill>
        <p:spPr>
          <a:xfrm>
            <a:off x="3357720" y="4470840"/>
            <a:ext cx="2642760" cy="104544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7" descr="image.png"/>
          <p:cNvPicPr/>
          <p:nvPr/>
        </p:nvPicPr>
        <p:blipFill>
          <a:blip r:embed="rId7"/>
          <a:stretch/>
        </p:blipFill>
        <p:spPr>
          <a:xfrm>
            <a:off x="523800" y="4470840"/>
            <a:ext cx="2642760" cy="1045440"/>
          </a:xfrm>
          <a:prstGeom prst="rect">
            <a:avLst/>
          </a:prstGeom>
          <a:ln w="0">
            <a:noFill/>
          </a:ln>
        </p:spPr>
      </p:pic>
      <p:sp>
        <p:nvSpPr>
          <p:cNvPr id="128" name="TextBox 8"/>
          <p:cNvSpPr/>
          <p:nvPr/>
        </p:nvSpPr>
        <p:spPr>
          <a:xfrm>
            <a:off x="5667480" y="428760"/>
            <a:ext cx="63003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الأول: الفرضية المحورية ونطاق العمل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Picture 9" descr="image.png"/>
          <p:cNvPicPr/>
          <p:nvPr/>
        </p:nvPicPr>
        <p:blipFill>
          <a:blip r:embed="rId8"/>
          <a:stretch/>
        </p:blipFill>
        <p:spPr>
          <a:xfrm>
            <a:off x="523800" y="552600"/>
            <a:ext cx="971280" cy="323640"/>
          </a:xfrm>
          <a:prstGeom prst="rect">
            <a:avLst/>
          </a:prstGeom>
          <a:ln w="0">
            <a:noFill/>
          </a:ln>
        </p:spPr>
      </p:pic>
      <p:sp>
        <p:nvSpPr>
          <p:cNvPr id="130" name="TextBox 10"/>
          <p:cNvSpPr/>
          <p:nvPr/>
        </p:nvSpPr>
        <p:spPr>
          <a:xfrm>
            <a:off x="6254280" y="2493720"/>
            <a:ext cx="51753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الفرضية العلمية لـ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 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Flourish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6500880" y="3055680"/>
            <a:ext cx="4928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يمكن استبدال عملية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Fine-Tuning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الباهظة بحساب </a:t>
            </a:r>
            <a:r>
              <a:rPr b="1" lang="hi-IN" sz="1280" spc="-1" strike="noStrike">
                <a:solidFill>
                  <a:srgbClr val="334155"/>
                </a:solidFill>
                <a:latin typeface="Tajawal"/>
              </a:rPr>
              <a:t>مؤشرات أسلوبية رياضية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تحسب لاواعياً من نصوص الكاتب السابق، ثم </a:t>
            </a:r>
            <a:r>
              <a:rPr b="1" lang="hi-IN" sz="1280" spc="-1" strike="noStrike">
                <a:solidFill>
                  <a:srgbClr val="334155"/>
                </a:solidFill>
                <a:latin typeface="Tajawal"/>
              </a:rPr>
              <a:t>حقن هذه المؤشرات ديناميكياً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ضمن تعليمات النظام للنموذج التوليدي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12"/>
          <p:cNvSpPr/>
          <p:nvPr/>
        </p:nvSpPr>
        <p:spPr>
          <a:xfrm>
            <a:off x="515520" y="2493720"/>
            <a:ext cx="51753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نطاق الحل والتطبيق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13"/>
          <p:cNvSpPr/>
          <p:nvPr/>
        </p:nvSpPr>
        <p:spPr>
          <a:xfrm>
            <a:off x="762120" y="3055680"/>
            <a:ext cx="4928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تطوير خادم خلفي متكامل بناءً على إطار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FastAPI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وقاعدة بيانات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Pgvector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لتنفيذ استرجاع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RAG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دلالي مع خط معالجة صرفي ثنائي اللغة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(Farasa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للعربية و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spaCy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للإنكليزية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).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9225000" y="4671000"/>
            <a:ext cx="2204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135"/>
              </a:lnSpc>
            </a:pPr>
            <a:r>
              <a:rPr b="0" lang="en-US" sz="2850" spc="-1" strike="noStrike">
                <a:solidFill>
                  <a:srgbClr val="0f172a"/>
                </a:solidFill>
                <a:latin typeface="Cairo ExtraBold"/>
              </a:rPr>
              <a:t>9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15"/>
          <p:cNvSpPr/>
          <p:nvPr/>
        </p:nvSpPr>
        <p:spPr>
          <a:xfrm>
            <a:off x="9225000" y="5145120"/>
            <a:ext cx="22046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130" spc="-1" strike="noStrike">
                <a:solidFill>
                  <a:srgbClr val="475569"/>
                </a:solidFill>
                <a:latin typeface="Tajawal"/>
              </a:rPr>
              <a:t>مؤشرات أسلوبية مقيسة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6"/>
          <p:cNvSpPr/>
          <p:nvPr/>
        </p:nvSpPr>
        <p:spPr>
          <a:xfrm>
            <a:off x="6391440" y="4671000"/>
            <a:ext cx="2204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135"/>
              </a:lnSpc>
            </a:pPr>
            <a:r>
              <a:rPr b="0" lang="en-US" sz="2850" spc="-1" strike="noStrike">
                <a:solidFill>
                  <a:srgbClr val="0f172a"/>
                </a:solidFill>
                <a:latin typeface="Cairo ExtraBold"/>
              </a:rPr>
              <a:t>2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7"/>
          <p:cNvSpPr/>
          <p:nvPr/>
        </p:nvSpPr>
        <p:spPr>
          <a:xfrm>
            <a:off x="6391440" y="5145120"/>
            <a:ext cx="22046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130" spc="-1" strike="noStrike">
                <a:solidFill>
                  <a:srgbClr val="475569"/>
                </a:solidFill>
                <a:latin typeface="Tajawal"/>
              </a:rPr>
              <a:t>لغات مدعومة بنيوياً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18"/>
          <p:cNvSpPr/>
          <p:nvPr/>
        </p:nvSpPr>
        <p:spPr>
          <a:xfrm>
            <a:off x="3557520" y="4671000"/>
            <a:ext cx="2204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135"/>
              </a:lnSpc>
            </a:pPr>
            <a:r>
              <a:rPr b="0" lang="en-US" sz="2850" spc="-1" strike="noStrike">
                <a:solidFill>
                  <a:srgbClr val="0f172a"/>
                </a:solidFill>
                <a:latin typeface="Cairo ExtraBold"/>
              </a:rPr>
              <a:t>0$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3557520" y="5145120"/>
            <a:ext cx="22046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130" spc="-1" strike="noStrike">
                <a:solidFill>
                  <a:srgbClr val="475569"/>
                </a:solidFill>
                <a:latin typeface="Tajawal"/>
              </a:rPr>
              <a:t>تكلفة التدريب الخارجي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20"/>
          <p:cNvSpPr/>
          <p:nvPr/>
        </p:nvSpPr>
        <p:spPr>
          <a:xfrm>
            <a:off x="723960" y="4671000"/>
            <a:ext cx="2204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135"/>
              </a:lnSpc>
            </a:pPr>
            <a:r>
              <a:rPr b="0" lang="en-US" sz="2850" spc="-1" strike="noStrike">
                <a:solidFill>
                  <a:srgbClr val="0f172a"/>
                </a:solidFill>
                <a:latin typeface="Cairo ExtraBold"/>
              </a:rPr>
              <a:t>100%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1"/>
          <p:cNvSpPr/>
          <p:nvPr/>
        </p:nvSpPr>
        <p:spPr>
          <a:xfrm>
            <a:off x="723960" y="5145120"/>
            <a:ext cx="22046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130" spc="-1" strike="noStrike">
                <a:solidFill>
                  <a:srgbClr val="475569"/>
                </a:solidFill>
                <a:latin typeface="Tajawal"/>
              </a:rPr>
              <a:t>عمل محلي مستمر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2" descr="image.png"/>
          <p:cNvPicPr/>
          <p:nvPr/>
        </p:nvPicPr>
        <p:blipFill>
          <a:blip r:embed="rId2"/>
          <a:stretch/>
        </p:blipFill>
        <p:spPr>
          <a:xfrm>
            <a:off x="523800" y="2747880"/>
            <a:ext cx="11143800" cy="2819160"/>
          </a:xfrm>
          <a:prstGeom prst="rect">
            <a:avLst/>
          </a:prstGeom>
          <a:ln w="0">
            <a:noFill/>
          </a:ln>
        </p:spPr>
      </p:pic>
      <p:sp>
        <p:nvSpPr>
          <p:cNvPr id="144" name="TextBox 3"/>
          <p:cNvSpPr/>
          <p:nvPr/>
        </p:nvSpPr>
        <p:spPr>
          <a:xfrm>
            <a:off x="4514760" y="428760"/>
            <a:ext cx="7510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الثاني: الدراسة المرجعية والأسلوبية الحاسوبية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Picture 4" descr="image.png"/>
          <p:cNvPicPr/>
          <p:nvPr/>
        </p:nvPicPr>
        <p:blipFill>
          <a:blip r:embed="rId3"/>
          <a:stretch/>
        </p:blipFill>
        <p:spPr>
          <a:xfrm>
            <a:off x="523800" y="552600"/>
            <a:ext cx="1009440" cy="323640"/>
          </a:xfrm>
          <a:prstGeom prst="rect">
            <a:avLst/>
          </a:prstGeom>
          <a:ln w="0">
            <a:noFill/>
          </a:ln>
        </p:spPr>
      </p:pic>
      <p:sp>
        <p:nvSpPr>
          <p:cNvPr id="146" name="TextBox 5"/>
          <p:cNvSpPr/>
          <p:nvPr/>
        </p:nvSpPr>
        <p:spPr>
          <a:xfrm>
            <a:off x="523800" y="2205000"/>
            <a:ext cx="116676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المؤشرات التسعة المحددة لبصمة الكاتب الصوتية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7" name="Table 6"/>
          <p:cNvGraphicFramePr/>
          <p:nvPr/>
        </p:nvGraphicFramePr>
        <p:xfrm>
          <a:off x="533520" y="2757600"/>
          <a:ext cx="11124720" cy="2800080"/>
        </p:xfrm>
        <a:graphic>
          <a:graphicData uri="http://schemas.openxmlformats.org/drawingml/2006/table">
            <a:tbl>
              <a:tblPr/>
              <a:tblGrid>
                <a:gridCol w="2998440"/>
                <a:gridCol w="4215240"/>
                <a:gridCol w="3911040"/>
              </a:tblGrid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المؤشر الأسلوبي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طريقة القياس الحاسوبي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الأثر على التوليد والنص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متوسط طول الجملة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(ASL)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عدد الكلمات الكلي قسمة على عدد الجمل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يحدد رتم النفَس القرائي وسرعة السرد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الثراء المعجمي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(TTR)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نسبة الكلمات الفريدة إلى مجموع الكلمات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يعكس تنوع المفردات ومنع التكرار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كثافة الصفات والأحوال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تحليل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POS tagging </a:t>
                      </a: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بالنسبة المئوية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يتحكم بالجرعة الوصفية مقابل الحركة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معدل الترقيم والتوازنات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حساب الفواصل والأسئلة وعلامات التعجب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يعكس النبرة الانفعالية وتماسك الأفكار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تغليب الحوار على الوصف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نسبة النصوص بين أقواس التنصيص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يحدد شكل بناء المشهد الأدبي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8" name="Rectangle 7"/>
          <p:cNvSpPr/>
          <p:nvPr/>
        </p:nvSpPr>
        <p:spPr>
          <a:xfrm>
            <a:off x="8660160" y="3209760"/>
            <a:ext cx="29980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ectangle 8"/>
          <p:cNvSpPr/>
          <p:nvPr/>
        </p:nvSpPr>
        <p:spPr>
          <a:xfrm>
            <a:off x="4444560" y="3209760"/>
            <a:ext cx="42148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ectangle 9"/>
          <p:cNvSpPr/>
          <p:nvPr/>
        </p:nvSpPr>
        <p:spPr>
          <a:xfrm>
            <a:off x="533520" y="3209760"/>
            <a:ext cx="3910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Rectangle 10"/>
          <p:cNvSpPr/>
          <p:nvPr/>
        </p:nvSpPr>
        <p:spPr>
          <a:xfrm>
            <a:off x="8660160" y="3676680"/>
            <a:ext cx="29980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Rectangle 11"/>
          <p:cNvSpPr/>
          <p:nvPr/>
        </p:nvSpPr>
        <p:spPr>
          <a:xfrm>
            <a:off x="4444560" y="3676680"/>
            <a:ext cx="42148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Rectangle 12"/>
          <p:cNvSpPr/>
          <p:nvPr/>
        </p:nvSpPr>
        <p:spPr>
          <a:xfrm>
            <a:off x="533520" y="3676680"/>
            <a:ext cx="3910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Rectangle 13"/>
          <p:cNvSpPr/>
          <p:nvPr/>
        </p:nvSpPr>
        <p:spPr>
          <a:xfrm>
            <a:off x="8660160" y="4143240"/>
            <a:ext cx="29980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ectangle 14"/>
          <p:cNvSpPr/>
          <p:nvPr/>
        </p:nvSpPr>
        <p:spPr>
          <a:xfrm>
            <a:off x="4444560" y="4143240"/>
            <a:ext cx="42148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Rectangle 15"/>
          <p:cNvSpPr/>
          <p:nvPr/>
        </p:nvSpPr>
        <p:spPr>
          <a:xfrm>
            <a:off x="533520" y="4143240"/>
            <a:ext cx="3910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Rectangle 16"/>
          <p:cNvSpPr/>
          <p:nvPr/>
        </p:nvSpPr>
        <p:spPr>
          <a:xfrm>
            <a:off x="8660160" y="4610160"/>
            <a:ext cx="29980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Rectangle 17"/>
          <p:cNvSpPr/>
          <p:nvPr/>
        </p:nvSpPr>
        <p:spPr>
          <a:xfrm>
            <a:off x="4444560" y="4610160"/>
            <a:ext cx="42148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Rectangle 18"/>
          <p:cNvSpPr/>
          <p:nvPr/>
        </p:nvSpPr>
        <p:spPr>
          <a:xfrm>
            <a:off x="533520" y="4610160"/>
            <a:ext cx="3910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ectangle 19"/>
          <p:cNvSpPr/>
          <p:nvPr/>
        </p:nvSpPr>
        <p:spPr>
          <a:xfrm>
            <a:off x="8660160" y="5076720"/>
            <a:ext cx="29980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Rectangle 20"/>
          <p:cNvSpPr/>
          <p:nvPr/>
        </p:nvSpPr>
        <p:spPr>
          <a:xfrm>
            <a:off x="4444560" y="5076720"/>
            <a:ext cx="42148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ectangle 21"/>
          <p:cNvSpPr/>
          <p:nvPr/>
        </p:nvSpPr>
        <p:spPr>
          <a:xfrm>
            <a:off x="533520" y="5076720"/>
            <a:ext cx="3910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Rectangle 22"/>
          <p:cNvSpPr/>
          <p:nvPr/>
        </p:nvSpPr>
        <p:spPr>
          <a:xfrm>
            <a:off x="8660160" y="5543640"/>
            <a:ext cx="29980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Rectangle 23"/>
          <p:cNvSpPr/>
          <p:nvPr/>
        </p:nvSpPr>
        <p:spPr>
          <a:xfrm>
            <a:off x="4444560" y="5543640"/>
            <a:ext cx="42148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Rectangle 24"/>
          <p:cNvSpPr/>
          <p:nvPr/>
        </p:nvSpPr>
        <p:spPr>
          <a:xfrm>
            <a:off x="533520" y="5543640"/>
            <a:ext cx="3910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67" name="Picture 2" descr="image.png"/>
          <p:cNvPicPr/>
          <p:nvPr/>
        </p:nvPicPr>
        <p:blipFill>
          <a:blip r:embed="rId2"/>
          <a:stretch/>
        </p:blipFill>
        <p:spPr>
          <a:xfrm>
            <a:off x="523800" y="2476440"/>
            <a:ext cx="11143800" cy="2819160"/>
          </a:xfrm>
          <a:prstGeom prst="rect">
            <a:avLst/>
          </a:prstGeom>
          <a:ln w="0">
            <a:noFill/>
          </a:ln>
        </p:spPr>
      </p:pic>
      <p:sp>
        <p:nvSpPr>
          <p:cNvPr id="168" name="TextBox 3"/>
          <p:cNvSpPr/>
          <p:nvPr/>
        </p:nvSpPr>
        <p:spPr>
          <a:xfrm>
            <a:off x="5229360" y="428760"/>
            <a:ext cx="676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الثاني: مقارنة مرجعية مع الأدوات القائمة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9" name="Picture 4" descr="image.png"/>
          <p:cNvPicPr/>
          <p:nvPr/>
        </p:nvPicPr>
        <p:blipFill>
          <a:blip r:embed="rId3"/>
          <a:stretch/>
        </p:blipFill>
        <p:spPr>
          <a:xfrm>
            <a:off x="523800" y="552600"/>
            <a:ext cx="1009440" cy="323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70" name="Table 5"/>
          <p:cNvGraphicFramePr/>
          <p:nvPr/>
        </p:nvGraphicFramePr>
        <p:xfrm>
          <a:off x="533520" y="2486160"/>
          <a:ext cx="11124720" cy="2800080"/>
        </p:xfrm>
        <a:graphic>
          <a:graphicData uri="http://schemas.openxmlformats.org/drawingml/2006/table">
            <a:tbl>
              <a:tblPr/>
              <a:tblGrid>
                <a:gridCol w="2622960"/>
                <a:gridCol w="1977480"/>
                <a:gridCol w="2004840"/>
                <a:gridCol w="1661760"/>
                <a:gridCol w="2856960"/>
              </a:tblGrid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معيار المقارنة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ChatGPT / Claude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Sudowrite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Grammarly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مشروع</a:t>
                      </a:r>
                      <a:r>
                        <a:rPr b="1" lang="en-US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 </a:t>
                      </a:r>
                      <a:r>
                        <a:rPr b="1" lang="en-US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Flourish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استخراج الأسلوب آلياً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غير متاح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وصف نصي حر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للتصحيح فقط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حساب إحصائي موضوعي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دعم العربية الصرفي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سطحي (مترجم)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معدوم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معدوم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عميق عبر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Farasa JVM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استرجاع الذاكرة السردية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محدود بالتمرير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يدوي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(Story Bible)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غير متاح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آلي بالكامل عبر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RAG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التعديل التكيّفي الحكيم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غير متاح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غير متاح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غير متاح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سجل التغلب والتأكيد الحي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الاستضافة الذاتية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local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سحابي فقط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سحابي فقط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سحابي فقط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بيئة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Docker </a:t>
                      </a: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مستقلة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1" name="Rectangle 6"/>
          <p:cNvSpPr/>
          <p:nvPr/>
        </p:nvSpPr>
        <p:spPr>
          <a:xfrm>
            <a:off x="9035280" y="2938320"/>
            <a:ext cx="2622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ectangle 7"/>
          <p:cNvSpPr/>
          <p:nvPr/>
        </p:nvSpPr>
        <p:spPr>
          <a:xfrm>
            <a:off x="7057440" y="2938320"/>
            <a:ext cx="19774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Rectangle 8"/>
          <p:cNvSpPr/>
          <p:nvPr/>
        </p:nvSpPr>
        <p:spPr>
          <a:xfrm>
            <a:off x="5052240" y="2938320"/>
            <a:ext cx="20048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ectangle 9"/>
          <p:cNvSpPr/>
          <p:nvPr/>
        </p:nvSpPr>
        <p:spPr>
          <a:xfrm>
            <a:off x="3390480" y="2938320"/>
            <a:ext cx="1661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Rectangle 10"/>
          <p:cNvSpPr/>
          <p:nvPr/>
        </p:nvSpPr>
        <p:spPr>
          <a:xfrm>
            <a:off x="533520" y="2938320"/>
            <a:ext cx="2856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Rectangle 11"/>
          <p:cNvSpPr/>
          <p:nvPr/>
        </p:nvSpPr>
        <p:spPr>
          <a:xfrm>
            <a:off x="9035280" y="3405240"/>
            <a:ext cx="2622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Rectangle 12"/>
          <p:cNvSpPr/>
          <p:nvPr/>
        </p:nvSpPr>
        <p:spPr>
          <a:xfrm>
            <a:off x="7057440" y="3405240"/>
            <a:ext cx="19774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Rectangle 13"/>
          <p:cNvSpPr/>
          <p:nvPr/>
        </p:nvSpPr>
        <p:spPr>
          <a:xfrm>
            <a:off x="5052240" y="3405240"/>
            <a:ext cx="20048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Rectangle 14"/>
          <p:cNvSpPr/>
          <p:nvPr/>
        </p:nvSpPr>
        <p:spPr>
          <a:xfrm>
            <a:off x="3390480" y="3405240"/>
            <a:ext cx="1661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Rectangle 15"/>
          <p:cNvSpPr/>
          <p:nvPr/>
        </p:nvSpPr>
        <p:spPr>
          <a:xfrm>
            <a:off x="533520" y="3405240"/>
            <a:ext cx="2856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Rectangle 16"/>
          <p:cNvSpPr/>
          <p:nvPr/>
        </p:nvSpPr>
        <p:spPr>
          <a:xfrm>
            <a:off x="9035280" y="3871800"/>
            <a:ext cx="2622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Rectangle 17"/>
          <p:cNvSpPr/>
          <p:nvPr/>
        </p:nvSpPr>
        <p:spPr>
          <a:xfrm>
            <a:off x="7057440" y="3871800"/>
            <a:ext cx="19774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Rectangle 18"/>
          <p:cNvSpPr/>
          <p:nvPr/>
        </p:nvSpPr>
        <p:spPr>
          <a:xfrm>
            <a:off x="5052240" y="3871800"/>
            <a:ext cx="20048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ectangle 19"/>
          <p:cNvSpPr/>
          <p:nvPr/>
        </p:nvSpPr>
        <p:spPr>
          <a:xfrm>
            <a:off x="3390480" y="3871800"/>
            <a:ext cx="1661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Rectangle 20"/>
          <p:cNvSpPr/>
          <p:nvPr/>
        </p:nvSpPr>
        <p:spPr>
          <a:xfrm>
            <a:off x="533520" y="3871800"/>
            <a:ext cx="2856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Rectangle 21"/>
          <p:cNvSpPr/>
          <p:nvPr/>
        </p:nvSpPr>
        <p:spPr>
          <a:xfrm>
            <a:off x="9035280" y="4338720"/>
            <a:ext cx="2622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ectangle 22"/>
          <p:cNvSpPr/>
          <p:nvPr/>
        </p:nvSpPr>
        <p:spPr>
          <a:xfrm>
            <a:off x="7057440" y="4338720"/>
            <a:ext cx="19774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Rectangle 23"/>
          <p:cNvSpPr/>
          <p:nvPr/>
        </p:nvSpPr>
        <p:spPr>
          <a:xfrm>
            <a:off x="5052240" y="4338720"/>
            <a:ext cx="20048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Rectangle 24"/>
          <p:cNvSpPr/>
          <p:nvPr/>
        </p:nvSpPr>
        <p:spPr>
          <a:xfrm>
            <a:off x="3390480" y="4338720"/>
            <a:ext cx="1661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Rectangle 25"/>
          <p:cNvSpPr/>
          <p:nvPr/>
        </p:nvSpPr>
        <p:spPr>
          <a:xfrm>
            <a:off x="533520" y="4338720"/>
            <a:ext cx="2856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Rectangle 26"/>
          <p:cNvSpPr/>
          <p:nvPr/>
        </p:nvSpPr>
        <p:spPr>
          <a:xfrm>
            <a:off x="9035280" y="4805280"/>
            <a:ext cx="2622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ectangle 27"/>
          <p:cNvSpPr/>
          <p:nvPr/>
        </p:nvSpPr>
        <p:spPr>
          <a:xfrm>
            <a:off x="7057440" y="4805280"/>
            <a:ext cx="19774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Rectangle 28"/>
          <p:cNvSpPr/>
          <p:nvPr/>
        </p:nvSpPr>
        <p:spPr>
          <a:xfrm>
            <a:off x="5052240" y="4805280"/>
            <a:ext cx="20048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Rectangle 29"/>
          <p:cNvSpPr/>
          <p:nvPr/>
        </p:nvSpPr>
        <p:spPr>
          <a:xfrm>
            <a:off x="3390480" y="4805280"/>
            <a:ext cx="1661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Rectangle 30"/>
          <p:cNvSpPr/>
          <p:nvPr/>
        </p:nvSpPr>
        <p:spPr>
          <a:xfrm>
            <a:off x="533520" y="4805280"/>
            <a:ext cx="2856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Rectangle 31"/>
          <p:cNvSpPr/>
          <p:nvPr/>
        </p:nvSpPr>
        <p:spPr>
          <a:xfrm>
            <a:off x="9035280" y="5272200"/>
            <a:ext cx="2622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Rectangle 32"/>
          <p:cNvSpPr/>
          <p:nvPr/>
        </p:nvSpPr>
        <p:spPr>
          <a:xfrm>
            <a:off x="7057440" y="5272200"/>
            <a:ext cx="19774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Rectangle 33"/>
          <p:cNvSpPr/>
          <p:nvPr/>
        </p:nvSpPr>
        <p:spPr>
          <a:xfrm>
            <a:off x="5052240" y="5272200"/>
            <a:ext cx="20048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Rectangle 34"/>
          <p:cNvSpPr/>
          <p:nvPr/>
        </p:nvSpPr>
        <p:spPr>
          <a:xfrm>
            <a:off x="3390480" y="5272200"/>
            <a:ext cx="1661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Rectangle 35"/>
          <p:cNvSpPr/>
          <p:nvPr/>
        </p:nvSpPr>
        <p:spPr>
          <a:xfrm>
            <a:off x="533520" y="5272200"/>
            <a:ext cx="2856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02" name="Picture 2" descr="image.png"/>
          <p:cNvPicPr/>
          <p:nvPr/>
        </p:nvPicPr>
        <p:blipFill>
          <a:blip r:embed="rId2"/>
          <a:stretch/>
        </p:blipFill>
        <p:spPr>
          <a:xfrm>
            <a:off x="523800" y="1969920"/>
            <a:ext cx="5405040" cy="940680"/>
          </a:xfrm>
          <a:prstGeom prst="rect">
            <a:avLst/>
          </a:prstGeom>
          <a:ln w="0">
            <a:noFill/>
          </a:ln>
        </p:spPr>
      </p:pic>
      <p:pic>
        <p:nvPicPr>
          <p:cNvPr id="203" name="Picture 3" descr="image.png"/>
          <p:cNvPicPr/>
          <p:nvPr/>
        </p:nvPicPr>
        <p:blipFill>
          <a:blip r:embed="rId3"/>
          <a:stretch/>
        </p:blipFill>
        <p:spPr>
          <a:xfrm>
            <a:off x="523800" y="3415680"/>
            <a:ext cx="5405040" cy="940680"/>
          </a:xfrm>
          <a:prstGeom prst="rect">
            <a:avLst/>
          </a:prstGeom>
          <a:ln w="0">
            <a:noFill/>
          </a:ln>
        </p:spPr>
      </p:pic>
      <p:pic>
        <p:nvPicPr>
          <p:cNvPr id="204" name="Picture 4" descr="image.png"/>
          <p:cNvPicPr/>
          <p:nvPr/>
        </p:nvPicPr>
        <p:blipFill>
          <a:blip r:embed="rId4"/>
          <a:stretch/>
        </p:blipFill>
        <p:spPr>
          <a:xfrm>
            <a:off x="523800" y="4861440"/>
            <a:ext cx="5405040" cy="940680"/>
          </a:xfrm>
          <a:prstGeom prst="rect">
            <a:avLst/>
          </a:prstGeom>
          <a:ln w="0">
            <a:noFill/>
          </a:ln>
        </p:spPr>
      </p:pic>
      <p:sp>
        <p:nvSpPr>
          <p:cNvPr id="205" name="TextBox 5"/>
          <p:cNvSpPr/>
          <p:nvPr/>
        </p:nvSpPr>
        <p:spPr>
          <a:xfrm>
            <a:off x="5295960" y="428760"/>
            <a:ext cx="66906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الثاني: معالجة اللغة العربية ودمج</a:t>
            </a:r>
            <a:r>
              <a:rPr b="1" lang="en-US" sz="2400" spc="-1" strike="noStrike">
                <a:solidFill>
                  <a:srgbClr val="0f172a"/>
                </a:solidFill>
                <a:latin typeface="Cairo"/>
              </a:rPr>
              <a:t> </a:t>
            </a:r>
            <a:r>
              <a:rPr b="1" lang="en-US" sz="2400" spc="-1" strike="noStrike">
                <a:solidFill>
                  <a:srgbClr val="0f172a"/>
                </a:solidFill>
                <a:latin typeface="Cairo"/>
              </a:rPr>
              <a:t>Farasa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Picture 6" descr="image.png"/>
          <p:cNvPicPr/>
          <p:nvPr/>
        </p:nvPicPr>
        <p:blipFill>
          <a:blip r:embed="rId5"/>
          <a:stretch/>
        </p:blipFill>
        <p:spPr>
          <a:xfrm>
            <a:off x="523800" y="552600"/>
            <a:ext cx="1009440" cy="323640"/>
          </a:xfrm>
          <a:prstGeom prst="rect">
            <a:avLst/>
          </a:prstGeom>
          <a:ln w="0">
            <a:noFill/>
          </a:ln>
        </p:spPr>
      </p:pic>
      <p:sp>
        <p:nvSpPr>
          <p:cNvPr id="207" name="TextBox 7"/>
          <p:cNvSpPr/>
          <p:nvPr/>
        </p:nvSpPr>
        <p:spPr>
          <a:xfrm>
            <a:off x="6262560" y="2586960"/>
            <a:ext cx="56754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تحديات المعالجة الصرفية للغة العربية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8"/>
          <p:cNvSpPr/>
          <p:nvPr/>
        </p:nvSpPr>
        <p:spPr>
          <a:xfrm>
            <a:off x="6262560" y="3082320"/>
            <a:ext cx="5062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الالتصاق الصرفي: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اتصال الضمائر وأدوات العطف بالكلمات يجعل التجزئة السطحية غير دقيقة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9"/>
          <p:cNvSpPr/>
          <p:nvPr/>
        </p:nvSpPr>
        <p:spPr>
          <a:xfrm>
            <a:off x="6262560" y="3783240"/>
            <a:ext cx="5062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تعدد أشكال الجذر: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ضرورة رد الكلمات إلى أصولها لتحديد الثراء المعجمي الصحيح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(TTR).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10"/>
          <p:cNvSpPr/>
          <p:nvPr/>
        </p:nvSpPr>
        <p:spPr>
          <a:xfrm>
            <a:off x="6262560" y="4484160"/>
            <a:ext cx="5062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التكامل الهجين: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تشغيل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Farasa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المعتمد على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Java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داخل بيئة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Python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أسنكرونية دون إحداث اختناق في الأداء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11"/>
          <p:cNvSpPr/>
          <p:nvPr/>
        </p:nvSpPr>
        <p:spPr>
          <a:xfrm>
            <a:off x="588600" y="2160360"/>
            <a:ext cx="52754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1. </a:t>
            </a: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النص العربي الخام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12"/>
          <p:cNvSpPr/>
          <p:nvPr/>
        </p:nvSpPr>
        <p:spPr>
          <a:xfrm>
            <a:off x="714240" y="2522160"/>
            <a:ext cx="5024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استلام المقاطع النصية من ملفات الكاتب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Picture 13" descr="image.png"/>
          <p:cNvPicPr/>
          <p:nvPr/>
        </p:nvPicPr>
        <p:blipFill>
          <a:blip r:embed="rId6"/>
          <a:stretch/>
        </p:blipFill>
        <p:spPr>
          <a:xfrm>
            <a:off x="3145680" y="3025080"/>
            <a:ext cx="161640" cy="209160"/>
          </a:xfrm>
          <a:prstGeom prst="rect">
            <a:avLst/>
          </a:prstGeom>
          <a:ln w="0">
            <a:noFill/>
          </a:ln>
        </p:spPr>
      </p:pic>
      <p:sp>
        <p:nvSpPr>
          <p:cNvPr id="214" name="TextBox 14"/>
          <p:cNvSpPr/>
          <p:nvPr/>
        </p:nvSpPr>
        <p:spPr>
          <a:xfrm>
            <a:off x="588600" y="3606120"/>
            <a:ext cx="52754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2. </a:t>
            </a: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جدار</a:t>
            </a: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 </a:t>
            </a: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Farasa </a:t>
            </a: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الصرفي</a:t>
            </a: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 </a:t>
            </a: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(Java Process)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5"/>
          <p:cNvSpPr/>
          <p:nvPr/>
        </p:nvSpPr>
        <p:spPr>
          <a:xfrm>
            <a:off x="714240" y="3967920"/>
            <a:ext cx="5024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التجزئة، استخراج الجذور، ووسم أقسام الكلام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 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(POS)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Picture 16" descr="image.png"/>
          <p:cNvPicPr/>
          <p:nvPr/>
        </p:nvPicPr>
        <p:blipFill>
          <a:blip r:embed="rId7"/>
          <a:stretch/>
        </p:blipFill>
        <p:spPr>
          <a:xfrm>
            <a:off x="3145680" y="4470840"/>
            <a:ext cx="161640" cy="209160"/>
          </a:xfrm>
          <a:prstGeom prst="rect">
            <a:avLst/>
          </a:prstGeom>
          <a:ln w="0">
            <a:noFill/>
          </a:ln>
        </p:spPr>
      </p:pic>
      <p:sp>
        <p:nvSpPr>
          <p:cNvPr id="217" name="TextBox 17"/>
          <p:cNvSpPr/>
          <p:nvPr/>
        </p:nvSpPr>
        <p:spPr>
          <a:xfrm>
            <a:off x="588600" y="5051880"/>
            <a:ext cx="52754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3. </a:t>
            </a: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حساب المؤشرات الأسلوبية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18"/>
          <p:cNvSpPr/>
          <p:nvPr/>
        </p:nvSpPr>
        <p:spPr>
          <a:xfrm>
            <a:off x="714240" y="5414040"/>
            <a:ext cx="5024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حفظ القيم القياسية في قاعدة البيانات لاستخدامها بالحقن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Picture 19" descr="image.png"/>
          <p:cNvPicPr/>
          <p:nvPr/>
        </p:nvPicPr>
        <p:blipFill>
          <a:blip r:embed="rId8"/>
          <a:stretch/>
        </p:blipFill>
        <p:spPr>
          <a:xfrm>
            <a:off x="11477520" y="311544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220" name="Picture 20" descr="image.png"/>
          <p:cNvPicPr/>
          <p:nvPr/>
        </p:nvPicPr>
        <p:blipFill>
          <a:blip r:embed="rId9"/>
          <a:stretch/>
        </p:blipFill>
        <p:spPr>
          <a:xfrm>
            <a:off x="11496600" y="381672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221" name="Picture 21" descr="image.png"/>
          <p:cNvPicPr/>
          <p:nvPr/>
        </p:nvPicPr>
        <p:blipFill>
          <a:blip r:embed="rId10"/>
          <a:stretch/>
        </p:blipFill>
        <p:spPr>
          <a:xfrm>
            <a:off x="11477520" y="4517640"/>
            <a:ext cx="190080" cy="19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23" name="Picture 2" descr="image.png"/>
          <p:cNvPicPr/>
          <p:nvPr/>
        </p:nvPicPr>
        <p:blipFill>
          <a:blip r:embed="rId2"/>
          <a:stretch/>
        </p:blipFill>
        <p:spPr>
          <a:xfrm>
            <a:off x="523800" y="4436640"/>
            <a:ext cx="11143800" cy="66636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3" descr="image.png"/>
          <p:cNvPicPr/>
          <p:nvPr/>
        </p:nvPicPr>
        <p:blipFill>
          <a:blip r:embed="rId3"/>
          <a:stretch/>
        </p:blipFill>
        <p:spPr>
          <a:xfrm>
            <a:off x="9189360" y="2669040"/>
            <a:ext cx="2478600" cy="1481760"/>
          </a:xfrm>
          <a:prstGeom prst="rect">
            <a:avLst/>
          </a:prstGeom>
          <a:ln w="0">
            <a:noFill/>
          </a:ln>
        </p:spPr>
      </p:pic>
      <p:pic>
        <p:nvPicPr>
          <p:cNvPr id="225" name="Picture 4" descr="image.png"/>
          <p:cNvPicPr/>
          <p:nvPr/>
        </p:nvPicPr>
        <p:blipFill>
          <a:blip r:embed="rId4"/>
          <a:stretch/>
        </p:blipFill>
        <p:spPr>
          <a:xfrm>
            <a:off x="6300720" y="2768040"/>
            <a:ext cx="2478600" cy="1283760"/>
          </a:xfrm>
          <a:prstGeom prst="rect">
            <a:avLst/>
          </a:prstGeom>
          <a:ln w="0">
            <a:noFill/>
          </a:ln>
        </p:spPr>
      </p:pic>
      <p:pic>
        <p:nvPicPr>
          <p:cNvPr id="226" name="Picture 5" descr="image.png"/>
          <p:cNvPicPr/>
          <p:nvPr/>
        </p:nvPicPr>
        <p:blipFill>
          <a:blip r:embed="rId5"/>
          <a:stretch/>
        </p:blipFill>
        <p:spPr>
          <a:xfrm>
            <a:off x="3412440" y="2669040"/>
            <a:ext cx="2478600" cy="1481760"/>
          </a:xfrm>
          <a:prstGeom prst="rect">
            <a:avLst/>
          </a:prstGeom>
          <a:ln w="0">
            <a:noFill/>
          </a:ln>
        </p:spPr>
      </p:pic>
      <p:pic>
        <p:nvPicPr>
          <p:cNvPr id="227" name="Picture 6" descr="image.png"/>
          <p:cNvPicPr/>
          <p:nvPr/>
        </p:nvPicPr>
        <p:blipFill>
          <a:blip r:embed="rId6"/>
          <a:stretch/>
        </p:blipFill>
        <p:spPr>
          <a:xfrm>
            <a:off x="523800" y="2669040"/>
            <a:ext cx="2478600" cy="1481760"/>
          </a:xfrm>
          <a:prstGeom prst="rect">
            <a:avLst/>
          </a:prstGeom>
          <a:ln w="0">
            <a:noFill/>
          </a:ln>
        </p:spPr>
      </p:pic>
      <p:sp>
        <p:nvSpPr>
          <p:cNvPr id="228" name="TextBox 7"/>
          <p:cNvSpPr/>
          <p:nvPr/>
        </p:nvSpPr>
        <p:spPr>
          <a:xfrm>
            <a:off x="5248440" y="428760"/>
            <a:ext cx="6740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الثالث: المعمارية الهندسية العامة للنظام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9" name="Picture 8" descr="image.png"/>
          <p:cNvPicPr/>
          <p:nvPr/>
        </p:nvPicPr>
        <p:blipFill>
          <a:blip r:embed="rId7"/>
          <a:stretch/>
        </p:blipFill>
        <p:spPr>
          <a:xfrm>
            <a:off x="523800" y="552600"/>
            <a:ext cx="999720" cy="323640"/>
          </a:xfrm>
          <a:prstGeom prst="rect">
            <a:avLst/>
          </a:prstGeom>
          <a:ln w="0">
            <a:noFill/>
          </a:ln>
        </p:spPr>
      </p:pic>
      <p:pic>
        <p:nvPicPr>
          <p:cNvPr id="230" name="Picture 9" descr="image.png"/>
          <p:cNvPicPr/>
          <p:nvPr/>
        </p:nvPicPr>
        <p:blipFill>
          <a:blip r:embed="rId8"/>
          <a:stretch/>
        </p:blipFill>
        <p:spPr>
          <a:xfrm>
            <a:off x="10276200" y="2859480"/>
            <a:ext cx="304560" cy="266400"/>
          </a:xfrm>
          <a:prstGeom prst="rect">
            <a:avLst/>
          </a:prstGeom>
          <a:ln w="0">
            <a:noFill/>
          </a:ln>
        </p:spPr>
      </p:pic>
      <p:sp>
        <p:nvSpPr>
          <p:cNvPr id="231" name="TextBox 10"/>
          <p:cNvSpPr/>
          <p:nvPr/>
        </p:nvSpPr>
        <p:spPr>
          <a:xfrm>
            <a:off x="9327240" y="3202200"/>
            <a:ext cx="22024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واجهة المستخدم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11"/>
          <p:cNvSpPr/>
          <p:nvPr/>
        </p:nvSpPr>
        <p:spPr>
          <a:xfrm>
            <a:off x="9379800" y="3564360"/>
            <a:ext cx="209736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محرر نصوص تفاعلي يُظهر الاقتراحات والمؤشرات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Picture 12" descr="image.png"/>
          <p:cNvPicPr/>
          <p:nvPr/>
        </p:nvPicPr>
        <p:blipFill>
          <a:blip r:embed="rId9"/>
          <a:stretch/>
        </p:blipFill>
        <p:spPr>
          <a:xfrm>
            <a:off x="8893800" y="3271680"/>
            <a:ext cx="180720" cy="209160"/>
          </a:xfrm>
          <a:prstGeom prst="rect">
            <a:avLst/>
          </a:prstGeom>
          <a:ln w="0">
            <a:noFill/>
          </a:ln>
        </p:spPr>
      </p:pic>
      <p:pic>
        <p:nvPicPr>
          <p:cNvPr id="234" name="Picture 13" descr="image.png"/>
          <p:cNvPicPr/>
          <p:nvPr/>
        </p:nvPicPr>
        <p:blipFill>
          <a:blip r:embed="rId10"/>
          <a:stretch/>
        </p:blipFill>
        <p:spPr>
          <a:xfrm>
            <a:off x="7407000" y="2958480"/>
            <a:ext cx="266400" cy="266400"/>
          </a:xfrm>
          <a:prstGeom prst="rect">
            <a:avLst/>
          </a:prstGeom>
          <a:ln w="0">
            <a:noFill/>
          </a:ln>
        </p:spPr>
      </p:pic>
      <p:sp>
        <p:nvSpPr>
          <p:cNvPr id="235" name="TextBox 14"/>
          <p:cNvSpPr/>
          <p:nvPr/>
        </p:nvSpPr>
        <p:spPr>
          <a:xfrm>
            <a:off x="6438960" y="3301200"/>
            <a:ext cx="22024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FastAPI Gateway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15"/>
          <p:cNvSpPr/>
          <p:nvPr/>
        </p:nvSpPr>
        <p:spPr>
          <a:xfrm>
            <a:off x="6491160" y="3663360"/>
            <a:ext cx="20973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إدارة الطلبات، التوثيق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 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JWT</a:t>
            </a: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، </a:t>
            </a: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وإدارة الجلسات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Picture 16" descr="image.png"/>
          <p:cNvPicPr/>
          <p:nvPr/>
        </p:nvPicPr>
        <p:blipFill>
          <a:blip r:embed="rId11"/>
          <a:stretch/>
        </p:blipFill>
        <p:spPr>
          <a:xfrm>
            <a:off x="6005520" y="3271680"/>
            <a:ext cx="180720" cy="209160"/>
          </a:xfrm>
          <a:prstGeom prst="rect">
            <a:avLst/>
          </a:prstGeom>
          <a:ln w="0">
            <a:noFill/>
          </a:ln>
        </p:spPr>
      </p:pic>
      <p:pic>
        <p:nvPicPr>
          <p:cNvPr id="238" name="Picture 17" descr="image.png"/>
          <p:cNvPicPr/>
          <p:nvPr/>
        </p:nvPicPr>
        <p:blipFill>
          <a:blip r:embed="rId12"/>
          <a:stretch/>
        </p:blipFill>
        <p:spPr>
          <a:xfrm>
            <a:off x="4485240" y="2859480"/>
            <a:ext cx="333000" cy="266400"/>
          </a:xfrm>
          <a:prstGeom prst="rect">
            <a:avLst/>
          </a:prstGeom>
          <a:ln w="0">
            <a:noFill/>
          </a:ln>
        </p:spPr>
      </p:pic>
      <p:sp>
        <p:nvSpPr>
          <p:cNvPr id="239" name="TextBox 18"/>
          <p:cNvSpPr/>
          <p:nvPr/>
        </p:nvSpPr>
        <p:spPr>
          <a:xfrm>
            <a:off x="3550320" y="3202200"/>
            <a:ext cx="22024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محرك الأسلوب و</a:t>
            </a: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 </a:t>
            </a: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RAG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19"/>
          <p:cNvSpPr/>
          <p:nvPr/>
        </p:nvSpPr>
        <p:spPr>
          <a:xfrm>
            <a:off x="3602880" y="3564360"/>
            <a:ext cx="209736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حساب المؤشرات وحقن السياق والتضمين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" name="Picture 20" descr="image.png"/>
          <p:cNvPicPr/>
          <p:nvPr/>
        </p:nvPicPr>
        <p:blipFill>
          <a:blip r:embed="rId13"/>
          <a:stretch/>
        </p:blipFill>
        <p:spPr>
          <a:xfrm>
            <a:off x="3116880" y="3271680"/>
            <a:ext cx="180720" cy="209160"/>
          </a:xfrm>
          <a:prstGeom prst="rect">
            <a:avLst/>
          </a:prstGeom>
          <a:ln w="0">
            <a:noFill/>
          </a:ln>
        </p:spPr>
      </p:pic>
      <p:pic>
        <p:nvPicPr>
          <p:cNvPr id="242" name="Picture 21" descr="image.png"/>
          <p:cNvPicPr/>
          <p:nvPr/>
        </p:nvPicPr>
        <p:blipFill>
          <a:blip r:embed="rId14"/>
          <a:stretch/>
        </p:blipFill>
        <p:spPr>
          <a:xfrm>
            <a:off x="1644120" y="2859480"/>
            <a:ext cx="237600" cy="266400"/>
          </a:xfrm>
          <a:prstGeom prst="rect">
            <a:avLst/>
          </a:prstGeom>
          <a:ln w="0">
            <a:noFill/>
          </a:ln>
        </p:spPr>
      </p:pic>
      <p:sp>
        <p:nvSpPr>
          <p:cNvPr id="243" name="TextBox 22"/>
          <p:cNvSpPr/>
          <p:nvPr/>
        </p:nvSpPr>
        <p:spPr>
          <a:xfrm>
            <a:off x="662040" y="3202200"/>
            <a:ext cx="22024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Postgres + Pgvector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23"/>
          <p:cNvSpPr/>
          <p:nvPr/>
        </p:nvSpPr>
        <p:spPr>
          <a:xfrm>
            <a:off x="714240" y="3564360"/>
            <a:ext cx="209736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تخزين التضمينات والمتجهات والنصوص والملفات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46" name="Picture 2" descr="image.png"/>
          <p:cNvPicPr/>
          <p:nvPr/>
        </p:nvPicPr>
        <p:blipFill>
          <a:blip r:embed="rId2"/>
          <a:stretch/>
        </p:blipFill>
        <p:spPr>
          <a:xfrm>
            <a:off x="6262560" y="2537640"/>
            <a:ext cx="5405040" cy="2697120"/>
          </a:xfrm>
          <a:prstGeom prst="rect">
            <a:avLst/>
          </a:prstGeom>
          <a:ln w="0">
            <a:noFill/>
          </a:ln>
        </p:spPr>
      </p:pic>
      <p:pic>
        <p:nvPicPr>
          <p:cNvPr id="247" name="Picture 3" descr="image.png"/>
          <p:cNvPicPr/>
          <p:nvPr/>
        </p:nvPicPr>
        <p:blipFill>
          <a:blip r:embed="rId3"/>
          <a:stretch/>
        </p:blipFill>
        <p:spPr>
          <a:xfrm>
            <a:off x="523800" y="2537640"/>
            <a:ext cx="5405040" cy="2697120"/>
          </a:xfrm>
          <a:prstGeom prst="rect">
            <a:avLst/>
          </a:prstGeom>
          <a:ln w="0">
            <a:noFill/>
          </a:ln>
        </p:spPr>
      </p:pic>
      <p:pic>
        <p:nvPicPr>
          <p:cNvPr id="248" name="Picture 4" descr="image.png"/>
          <p:cNvPicPr/>
          <p:nvPr/>
        </p:nvPicPr>
        <p:blipFill>
          <a:blip r:embed="rId4"/>
          <a:stretch/>
        </p:blipFill>
        <p:spPr>
          <a:xfrm>
            <a:off x="762120" y="4046040"/>
            <a:ext cx="4928760" cy="666360"/>
          </a:xfrm>
          <a:prstGeom prst="rect">
            <a:avLst/>
          </a:prstGeom>
          <a:ln w="0">
            <a:noFill/>
          </a:ln>
        </p:spPr>
      </p:pic>
      <p:sp>
        <p:nvSpPr>
          <p:cNvPr id="249" name="TextBox 5"/>
          <p:cNvSpPr/>
          <p:nvPr/>
        </p:nvSpPr>
        <p:spPr>
          <a:xfrm>
            <a:off x="5105520" y="428760"/>
            <a:ext cx="6890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الثالث: قواعد البيانات والتضمينات المتجهة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Picture 6" descr="image.png"/>
          <p:cNvPicPr/>
          <p:nvPr/>
        </p:nvPicPr>
        <p:blipFill>
          <a:blip r:embed="rId5"/>
          <a:stretch/>
        </p:blipFill>
        <p:spPr>
          <a:xfrm>
            <a:off x="523800" y="552600"/>
            <a:ext cx="999720" cy="323640"/>
          </a:xfrm>
          <a:prstGeom prst="rect">
            <a:avLst/>
          </a:prstGeom>
          <a:ln w="0">
            <a:noFill/>
          </a:ln>
        </p:spPr>
      </p:pic>
      <p:sp>
        <p:nvSpPr>
          <p:cNvPr id="251" name="TextBox 7"/>
          <p:cNvSpPr/>
          <p:nvPr/>
        </p:nvSpPr>
        <p:spPr>
          <a:xfrm>
            <a:off x="6254280" y="2775600"/>
            <a:ext cx="51753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البنية الهيكلية لـ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 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Postgres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8"/>
          <p:cNvSpPr/>
          <p:nvPr/>
        </p:nvSpPr>
        <p:spPr>
          <a:xfrm>
            <a:off x="515520" y="2775600"/>
            <a:ext cx="51753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التضمين المتجهي مع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 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Pgvector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9"/>
          <p:cNvSpPr/>
          <p:nvPr/>
        </p:nvSpPr>
        <p:spPr>
          <a:xfrm>
            <a:off x="762120" y="3337560"/>
            <a:ext cx="492876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تقسيم النصوص إلى مقاطع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Chunking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بحجم متزن، وحساب التضمينات المتجهة المخزنة في حقل من نوع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vector(1536).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10"/>
          <p:cNvSpPr/>
          <p:nvPr/>
        </p:nvSpPr>
        <p:spPr>
          <a:xfrm>
            <a:off x="6500880" y="3290040"/>
            <a:ext cx="45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Projects &amp; Chapters: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تنظيم الهيكل السردي والفصول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1"/>
          <p:cNvSpPr/>
          <p:nvPr/>
        </p:nvSpPr>
        <p:spPr>
          <a:xfrm>
            <a:off x="6500880" y="3716640"/>
            <a:ext cx="45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Voice Profiles: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حفظ قيم المؤشرات الأسلوبية 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9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12"/>
          <p:cNvSpPr/>
          <p:nvPr/>
        </p:nvSpPr>
        <p:spPr>
          <a:xfrm>
            <a:off x="6500880" y="4143240"/>
            <a:ext cx="45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Project DNA: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ميثاق الشخصيات والأماكن والقواعد السردية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13"/>
          <p:cNvSpPr/>
          <p:nvPr/>
        </p:nvSpPr>
        <p:spPr>
          <a:xfrm>
            <a:off x="6500880" y="4570200"/>
            <a:ext cx="45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Feedback Logs: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سجل الاقتراحات المقبولة والمرفوضة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8" name="Picture 14" descr="image.png"/>
          <p:cNvPicPr/>
          <p:nvPr/>
        </p:nvPicPr>
        <p:blipFill>
          <a:blip r:embed="rId6"/>
          <a:stretch/>
        </p:blipFill>
        <p:spPr>
          <a:xfrm>
            <a:off x="11239560" y="332316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259" name="Picture 15" descr="image.png"/>
          <p:cNvPicPr/>
          <p:nvPr/>
        </p:nvPicPr>
        <p:blipFill>
          <a:blip r:embed="rId7"/>
          <a:stretch/>
        </p:blipFill>
        <p:spPr>
          <a:xfrm>
            <a:off x="11239560" y="375012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260" name="Picture 16" descr="image.png"/>
          <p:cNvPicPr/>
          <p:nvPr/>
        </p:nvPicPr>
        <p:blipFill>
          <a:blip r:embed="rId8"/>
          <a:stretch/>
        </p:blipFill>
        <p:spPr>
          <a:xfrm>
            <a:off x="11258640" y="417672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261" name="Picture 17" descr="image.png"/>
          <p:cNvPicPr/>
          <p:nvPr/>
        </p:nvPicPr>
        <p:blipFill>
          <a:blip r:embed="rId9"/>
          <a:stretch/>
        </p:blipFill>
        <p:spPr>
          <a:xfrm>
            <a:off x="11239560" y="4603320"/>
            <a:ext cx="190080" cy="19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63" name="Picture 2" descr="image.png"/>
          <p:cNvPicPr/>
          <p:nvPr/>
        </p:nvPicPr>
        <p:blipFill>
          <a:blip r:embed="rId2"/>
          <a:stretch/>
        </p:blipFill>
        <p:spPr>
          <a:xfrm>
            <a:off x="9153360" y="2816640"/>
            <a:ext cx="2514240" cy="1138680"/>
          </a:xfrm>
          <a:prstGeom prst="rect">
            <a:avLst/>
          </a:prstGeom>
          <a:ln w="0">
            <a:noFill/>
          </a:ln>
        </p:spPr>
      </p:pic>
      <p:pic>
        <p:nvPicPr>
          <p:cNvPr id="264" name="Picture 3" descr="image.png"/>
          <p:cNvPicPr/>
          <p:nvPr/>
        </p:nvPicPr>
        <p:blipFill>
          <a:blip r:embed="rId3"/>
          <a:stretch/>
        </p:blipFill>
        <p:spPr>
          <a:xfrm>
            <a:off x="6276960" y="2816640"/>
            <a:ext cx="2514240" cy="1138680"/>
          </a:xfrm>
          <a:prstGeom prst="rect">
            <a:avLst/>
          </a:prstGeom>
          <a:ln w="0">
            <a:noFill/>
          </a:ln>
        </p:spPr>
      </p:pic>
      <p:pic>
        <p:nvPicPr>
          <p:cNvPr id="265" name="Picture 4" descr="image.png"/>
          <p:cNvPicPr/>
          <p:nvPr/>
        </p:nvPicPr>
        <p:blipFill>
          <a:blip r:embed="rId4"/>
          <a:stretch/>
        </p:blipFill>
        <p:spPr>
          <a:xfrm>
            <a:off x="3400560" y="2816640"/>
            <a:ext cx="2514240" cy="1138680"/>
          </a:xfrm>
          <a:prstGeom prst="rect">
            <a:avLst/>
          </a:prstGeom>
          <a:ln w="0">
            <a:noFill/>
          </a:ln>
        </p:spPr>
      </p:pic>
      <p:pic>
        <p:nvPicPr>
          <p:cNvPr id="266" name="Picture 5" descr="image.png"/>
          <p:cNvPicPr/>
          <p:nvPr/>
        </p:nvPicPr>
        <p:blipFill>
          <a:blip r:embed="rId5"/>
          <a:stretch/>
        </p:blipFill>
        <p:spPr>
          <a:xfrm>
            <a:off x="523800" y="2816640"/>
            <a:ext cx="2514240" cy="1138680"/>
          </a:xfrm>
          <a:prstGeom prst="rect">
            <a:avLst/>
          </a:prstGeom>
          <a:ln w="0">
            <a:noFill/>
          </a:ln>
        </p:spPr>
      </p:pic>
      <p:pic>
        <p:nvPicPr>
          <p:cNvPr id="267" name="Picture 6" descr="image.png"/>
          <p:cNvPicPr/>
          <p:nvPr/>
        </p:nvPicPr>
        <p:blipFill>
          <a:blip r:embed="rId6"/>
          <a:stretch/>
        </p:blipFill>
        <p:spPr>
          <a:xfrm>
            <a:off x="6262560" y="4289040"/>
            <a:ext cx="5405040" cy="666360"/>
          </a:xfrm>
          <a:prstGeom prst="rect">
            <a:avLst/>
          </a:prstGeom>
          <a:ln w="0">
            <a:noFill/>
          </a:ln>
        </p:spPr>
      </p:pic>
      <p:pic>
        <p:nvPicPr>
          <p:cNvPr id="268" name="Picture 7" descr="image.png"/>
          <p:cNvPicPr/>
          <p:nvPr/>
        </p:nvPicPr>
        <p:blipFill>
          <a:blip r:embed="rId7"/>
          <a:stretch/>
        </p:blipFill>
        <p:spPr>
          <a:xfrm>
            <a:off x="523800" y="4289040"/>
            <a:ext cx="5405040" cy="666360"/>
          </a:xfrm>
          <a:prstGeom prst="rect">
            <a:avLst/>
          </a:prstGeom>
          <a:ln w="0">
            <a:noFill/>
          </a:ln>
        </p:spPr>
      </p:pic>
      <p:sp>
        <p:nvSpPr>
          <p:cNvPr id="269" name="TextBox 8"/>
          <p:cNvSpPr/>
          <p:nvPr/>
        </p:nvSpPr>
        <p:spPr>
          <a:xfrm>
            <a:off x="5000760" y="428760"/>
            <a:ext cx="70005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الثالث: آلية عمل محرك حساب الصوت الأدبي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" name="Picture 9" descr="image.png"/>
          <p:cNvPicPr/>
          <p:nvPr/>
        </p:nvPicPr>
        <p:blipFill>
          <a:blip r:embed="rId8"/>
          <a:stretch/>
        </p:blipFill>
        <p:spPr>
          <a:xfrm>
            <a:off x="523800" y="552600"/>
            <a:ext cx="999720" cy="323640"/>
          </a:xfrm>
          <a:prstGeom prst="rect">
            <a:avLst/>
          </a:prstGeom>
          <a:ln w="0">
            <a:noFill/>
          </a:ln>
        </p:spPr>
      </p:pic>
      <p:sp>
        <p:nvSpPr>
          <p:cNvPr id="271" name="TextBox 10"/>
          <p:cNvSpPr/>
          <p:nvPr/>
        </p:nvSpPr>
        <p:spPr>
          <a:xfrm>
            <a:off x="9290520" y="3007080"/>
            <a:ext cx="22399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1. </a:t>
            </a: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العينة النصية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11"/>
          <p:cNvSpPr/>
          <p:nvPr/>
        </p:nvSpPr>
        <p:spPr>
          <a:xfrm>
            <a:off x="9344160" y="3368880"/>
            <a:ext cx="213336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رفع نصوص سابقة للكاتب (أكثر من 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2000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 كلمة)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3" name="Picture 12" descr="image.png"/>
          <p:cNvPicPr/>
          <p:nvPr/>
        </p:nvPicPr>
        <p:blipFill>
          <a:blip r:embed="rId9"/>
          <a:stretch/>
        </p:blipFill>
        <p:spPr>
          <a:xfrm>
            <a:off x="8906040" y="3247920"/>
            <a:ext cx="132840" cy="209160"/>
          </a:xfrm>
          <a:prstGeom prst="rect">
            <a:avLst/>
          </a:prstGeom>
          <a:ln w="0">
            <a:noFill/>
          </a:ln>
        </p:spPr>
      </p:pic>
      <p:sp>
        <p:nvSpPr>
          <p:cNvPr id="274" name="TextBox 13"/>
          <p:cNvSpPr/>
          <p:nvPr/>
        </p:nvSpPr>
        <p:spPr>
          <a:xfrm>
            <a:off x="6414120" y="3007080"/>
            <a:ext cx="22399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2. </a:t>
            </a: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التجزئة اللغوية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14"/>
          <p:cNvSpPr/>
          <p:nvPr/>
        </p:nvSpPr>
        <p:spPr>
          <a:xfrm>
            <a:off x="6467400" y="3368880"/>
            <a:ext cx="21333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تقطيع الجمل ووسم الكلمات عبر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 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Farasa / spaCy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Picture 15" descr="image.png"/>
          <p:cNvPicPr/>
          <p:nvPr/>
        </p:nvPicPr>
        <p:blipFill>
          <a:blip r:embed="rId10"/>
          <a:stretch/>
        </p:blipFill>
        <p:spPr>
          <a:xfrm>
            <a:off x="6029280" y="3247920"/>
            <a:ext cx="132840" cy="209160"/>
          </a:xfrm>
          <a:prstGeom prst="rect">
            <a:avLst/>
          </a:prstGeom>
          <a:ln w="0">
            <a:noFill/>
          </a:ln>
        </p:spPr>
      </p:pic>
      <p:sp>
        <p:nvSpPr>
          <p:cNvPr id="277" name="TextBox 16"/>
          <p:cNvSpPr/>
          <p:nvPr/>
        </p:nvSpPr>
        <p:spPr>
          <a:xfrm>
            <a:off x="3537720" y="3007080"/>
            <a:ext cx="22399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3. </a:t>
            </a: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الحساب الإحصائي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17"/>
          <p:cNvSpPr/>
          <p:nvPr/>
        </p:nvSpPr>
        <p:spPr>
          <a:xfrm>
            <a:off x="3591000" y="3368880"/>
            <a:ext cx="213336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استخراج القيم التسع وتحديد الانحراف المعياري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Picture 18" descr="image.png"/>
          <p:cNvPicPr/>
          <p:nvPr/>
        </p:nvPicPr>
        <p:blipFill>
          <a:blip r:embed="rId11"/>
          <a:stretch/>
        </p:blipFill>
        <p:spPr>
          <a:xfrm>
            <a:off x="3152880" y="3247920"/>
            <a:ext cx="132840" cy="209160"/>
          </a:xfrm>
          <a:prstGeom prst="rect">
            <a:avLst/>
          </a:prstGeom>
          <a:ln w="0">
            <a:noFill/>
          </a:ln>
        </p:spPr>
      </p:pic>
      <p:sp>
        <p:nvSpPr>
          <p:cNvPr id="280" name="TextBox 19"/>
          <p:cNvSpPr/>
          <p:nvPr/>
        </p:nvSpPr>
        <p:spPr>
          <a:xfrm>
            <a:off x="660960" y="3007080"/>
            <a:ext cx="22399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4. </a:t>
            </a: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التقييس</a:t>
            </a: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 </a:t>
            </a: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JSON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20"/>
          <p:cNvSpPr/>
          <p:nvPr/>
        </p:nvSpPr>
        <p:spPr>
          <a:xfrm>
            <a:off x="714240" y="3368880"/>
            <a:ext cx="213336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بناء ملف أسلوبي قياسي قابل للحقن بالموجّه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83" name="TextBox 2"/>
          <p:cNvSpPr/>
          <p:nvPr/>
        </p:nvSpPr>
        <p:spPr>
          <a:xfrm>
            <a:off x="5353200" y="428760"/>
            <a:ext cx="66304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الرابع: هندسة وحقن الموجهات التوليدية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4" name="Picture 3" descr="image.png"/>
          <p:cNvPicPr/>
          <p:nvPr/>
        </p:nvPicPr>
        <p:blipFill>
          <a:blip r:embed="rId2"/>
          <a:stretch/>
        </p:blipFill>
        <p:spPr>
          <a:xfrm>
            <a:off x="523800" y="552600"/>
            <a:ext cx="952200" cy="323640"/>
          </a:xfrm>
          <a:prstGeom prst="rect">
            <a:avLst/>
          </a:prstGeom>
          <a:ln w="0">
            <a:noFill/>
          </a:ln>
        </p:spPr>
      </p:pic>
      <p:sp>
        <p:nvSpPr>
          <p:cNvPr id="285" name="TextBox 4"/>
          <p:cNvSpPr/>
          <p:nvPr/>
        </p:nvSpPr>
        <p:spPr>
          <a:xfrm>
            <a:off x="523800" y="2761200"/>
            <a:ext cx="116676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الهيكل الطبقي للموجّه المحقون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 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(Prompt Stack)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5"/>
          <p:cNvSpPr/>
          <p:nvPr/>
        </p:nvSpPr>
        <p:spPr>
          <a:xfrm>
            <a:off x="523800" y="3304440"/>
            <a:ext cx="10801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1924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الطبقة الأولى - تعليمات النظام الأساسية: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الموجه البرمجي الذي يفرض الامتثال الصارم بالأسلوب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6"/>
          <p:cNvSpPr/>
          <p:nvPr/>
        </p:nvSpPr>
        <p:spPr>
          <a:xfrm>
            <a:off x="523800" y="3731040"/>
            <a:ext cx="10801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الطبقة الثانية - الملف الأسلوبي المقيس: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تحويل قيم المؤشرات العددية إلى أوامر نصية صريحة (مثال: استخدام جمل متوسط طولها 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12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كلمة)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7"/>
          <p:cNvSpPr/>
          <p:nvPr/>
        </p:nvSpPr>
        <p:spPr>
          <a:xfrm>
            <a:off x="523800" y="4157640"/>
            <a:ext cx="10801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الطبقة الثالثة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- DNA </a:t>
            </a: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المشروع والمحيط السردي: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حقن أسماء الشخصيات والحقائق المسترجعة عبر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RAG.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Box 8"/>
          <p:cNvSpPr/>
          <p:nvPr/>
        </p:nvSpPr>
        <p:spPr>
          <a:xfrm>
            <a:off x="523800" y="4584240"/>
            <a:ext cx="10801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الطبقة الرابعة - النافذة الدوارة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(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24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K):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السياق المباشر المأخوذ من الفصل الحالي لضمان سلاسة التدفق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0" name="Picture 9" descr="image.png"/>
          <p:cNvPicPr/>
          <p:nvPr/>
        </p:nvPicPr>
        <p:blipFill>
          <a:blip r:embed="rId3"/>
          <a:stretch/>
        </p:blipFill>
        <p:spPr>
          <a:xfrm>
            <a:off x="11449080" y="3337560"/>
            <a:ext cx="218880" cy="199800"/>
          </a:xfrm>
          <a:prstGeom prst="rect">
            <a:avLst/>
          </a:prstGeom>
          <a:ln w="0">
            <a:noFill/>
          </a:ln>
        </p:spPr>
      </p:pic>
      <p:pic>
        <p:nvPicPr>
          <p:cNvPr id="291" name="Picture 10" descr="image.png"/>
          <p:cNvPicPr/>
          <p:nvPr/>
        </p:nvPicPr>
        <p:blipFill>
          <a:blip r:embed="rId4"/>
          <a:stretch/>
        </p:blipFill>
        <p:spPr>
          <a:xfrm>
            <a:off x="11477520" y="376416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292" name="Picture 11" descr="image.png"/>
          <p:cNvPicPr/>
          <p:nvPr/>
        </p:nvPicPr>
        <p:blipFill>
          <a:blip r:embed="rId5"/>
          <a:stretch/>
        </p:blipFill>
        <p:spPr>
          <a:xfrm>
            <a:off x="11496600" y="419112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293" name="Picture 12" descr="image.png"/>
          <p:cNvPicPr/>
          <p:nvPr/>
        </p:nvPicPr>
        <p:blipFill>
          <a:blip r:embed="rId6"/>
          <a:stretch/>
        </p:blipFill>
        <p:spPr>
          <a:xfrm>
            <a:off x="11477520" y="4617720"/>
            <a:ext cx="190080" cy="19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95" name="Picture 2" descr="image.png"/>
          <p:cNvPicPr/>
          <p:nvPr/>
        </p:nvPicPr>
        <p:blipFill>
          <a:blip r:embed="rId2"/>
          <a:stretch/>
        </p:blipFill>
        <p:spPr>
          <a:xfrm>
            <a:off x="6262560" y="4173840"/>
            <a:ext cx="5405040" cy="666360"/>
          </a:xfrm>
          <a:prstGeom prst="rect">
            <a:avLst/>
          </a:prstGeom>
          <a:ln w="0">
            <a:noFill/>
          </a:ln>
        </p:spPr>
      </p:pic>
      <p:pic>
        <p:nvPicPr>
          <p:cNvPr id="296" name="Picture 3" descr="image.png"/>
          <p:cNvPicPr/>
          <p:nvPr/>
        </p:nvPicPr>
        <p:blipFill>
          <a:blip r:embed="rId3"/>
          <a:stretch/>
        </p:blipFill>
        <p:spPr>
          <a:xfrm>
            <a:off x="523800" y="4173840"/>
            <a:ext cx="5405040" cy="666360"/>
          </a:xfrm>
          <a:prstGeom prst="rect">
            <a:avLst/>
          </a:prstGeom>
          <a:ln w="0">
            <a:noFill/>
          </a:ln>
        </p:spPr>
      </p:pic>
      <p:sp>
        <p:nvSpPr>
          <p:cNvPr id="297" name="TextBox 4"/>
          <p:cNvSpPr/>
          <p:nvPr/>
        </p:nvSpPr>
        <p:spPr>
          <a:xfrm>
            <a:off x="5619600" y="428760"/>
            <a:ext cx="6350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الرابع: الذاكرة السردية والنافذة الدوارة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8" name="Picture 5" descr="image.png"/>
          <p:cNvPicPr/>
          <p:nvPr/>
        </p:nvPicPr>
        <p:blipFill>
          <a:blip r:embed="rId4"/>
          <a:stretch/>
        </p:blipFill>
        <p:spPr>
          <a:xfrm>
            <a:off x="523800" y="552600"/>
            <a:ext cx="952200" cy="323640"/>
          </a:xfrm>
          <a:prstGeom prst="rect">
            <a:avLst/>
          </a:prstGeom>
          <a:ln w="0">
            <a:noFill/>
          </a:ln>
        </p:spPr>
      </p:pic>
      <p:sp>
        <p:nvSpPr>
          <p:cNvPr id="299" name="TextBox 6"/>
          <p:cNvSpPr/>
          <p:nvPr/>
        </p:nvSpPr>
        <p:spPr>
          <a:xfrm>
            <a:off x="6262560" y="2931840"/>
            <a:ext cx="56754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النافذة الدوارة (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24,000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 حرف)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7"/>
          <p:cNvSpPr/>
          <p:nvPr/>
        </p:nvSpPr>
        <p:spPr>
          <a:xfrm>
            <a:off x="6262560" y="3493800"/>
            <a:ext cx="54050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تضمن المحافظة على رتم السرد الأخير وتمنع التناقض المباشر بين الجمل المتتابعة دون تجاوز حدود نافذة السياق الخاصة بالنموذج التوليدي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8"/>
          <p:cNvSpPr/>
          <p:nvPr/>
        </p:nvSpPr>
        <p:spPr>
          <a:xfrm>
            <a:off x="523800" y="2931840"/>
            <a:ext cx="56754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مكمل الذاكرة الممتدة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 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RAG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Box 9"/>
          <p:cNvSpPr/>
          <p:nvPr/>
        </p:nvSpPr>
        <p:spPr>
          <a:xfrm>
            <a:off x="523800" y="3493800"/>
            <a:ext cx="54050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عندما تشير الأحداث لشخصية أو حدث قديم في الفصل الأول، يقدم البحث الدلالي المقاطع المتصلة لتضمينها فوراً في الطلب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04" name="Picture 2" descr="image.png"/>
          <p:cNvPicPr/>
          <p:nvPr/>
        </p:nvPicPr>
        <p:blipFill>
          <a:blip r:embed="rId2"/>
          <a:stretch/>
        </p:blipFill>
        <p:spPr>
          <a:xfrm>
            <a:off x="523800" y="4878720"/>
            <a:ext cx="11143800" cy="485280"/>
          </a:xfrm>
          <a:prstGeom prst="rect">
            <a:avLst/>
          </a:prstGeom>
          <a:ln w="0">
            <a:noFill/>
          </a:ln>
        </p:spPr>
      </p:pic>
      <p:pic>
        <p:nvPicPr>
          <p:cNvPr id="305" name="Picture 3" descr="image.png"/>
          <p:cNvPicPr/>
          <p:nvPr/>
        </p:nvPicPr>
        <p:blipFill>
          <a:blip r:embed="rId3"/>
          <a:stretch/>
        </p:blipFill>
        <p:spPr>
          <a:xfrm>
            <a:off x="8080200" y="2408040"/>
            <a:ext cx="3587400" cy="2232000"/>
          </a:xfrm>
          <a:prstGeom prst="rect">
            <a:avLst/>
          </a:prstGeom>
          <a:ln w="0">
            <a:noFill/>
          </a:ln>
        </p:spPr>
      </p:pic>
      <p:pic>
        <p:nvPicPr>
          <p:cNvPr id="306" name="Picture 4" descr="image.png"/>
          <p:cNvPicPr/>
          <p:nvPr/>
        </p:nvPicPr>
        <p:blipFill>
          <a:blip r:embed="rId4"/>
          <a:stretch/>
        </p:blipFill>
        <p:spPr>
          <a:xfrm>
            <a:off x="4302000" y="2408040"/>
            <a:ext cx="3587400" cy="2232000"/>
          </a:xfrm>
          <a:prstGeom prst="rect">
            <a:avLst/>
          </a:prstGeom>
          <a:ln w="0">
            <a:noFill/>
          </a:ln>
        </p:spPr>
      </p:pic>
      <p:pic>
        <p:nvPicPr>
          <p:cNvPr id="307" name="Picture 5" descr="image.png"/>
          <p:cNvPicPr/>
          <p:nvPr/>
        </p:nvPicPr>
        <p:blipFill>
          <a:blip r:embed="rId5"/>
          <a:stretch/>
        </p:blipFill>
        <p:spPr>
          <a:xfrm>
            <a:off x="523800" y="2408040"/>
            <a:ext cx="3587400" cy="2232000"/>
          </a:xfrm>
          <a:prstGeom prst="rect">
            <a:avLst/>
          </a:prstGeom>
          <a:ln w="0">
            <a:noFill/>
          </a:ln>
        </p:spPr>
      </p:pic>
      <p:sp>
        <p:nvSpPr>
          <p:cNvPr id="308" name="TextBox 6"/>
          <p:cNvSpPr/>
          <p:nvPr/>
        </p:nvSpPr>
        <p:spPr>
          <a:xfrm>
            <a:off x="6200640" y="428760"/>
            <a:ext cx="5740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الرابع: البنية التحتية وحزم الحاويات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Picture 7" descr="image.png"/>
          <p:cNvPicPr/>
          <p:nvPr/>
        </p:nvPicPr>
        <p:blipFill>
          <a:blip r:embed="rId6"/>
          <a:stretch/>
        </p:blipFill>
        <p:spPr>
          <a:xfrm>
            <a:off x="523800" y="552600"/>
            <a:ext cx="952200" cy="323640"/>
          </a:xfrm>
          <a:prstGeom prst="rect">
            <a:avLst/>
          </a:prstGeom>
          <a:ln w="0">
            <a:noFill/>
          </a:ln>
        </p:spPr>
      </p:pic>
      <p:sp>
        <p:nvSpPr>
          <p:cNvPr id="310" name="TextBox 8"/>
          <p:cNvSpPr/>
          <p:nvPr/>
        </p:nvSpPr>
        <p:spPr>
          <a:xfrm>
            <a:off x="8141760" y="3179520"/>
            <a:ext cx="33066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حزمة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 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Docker Compose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Box 9"/>
          <p:cNvSpPr/>
          <p:nvPr/>
        </p:nvSpPr>
        <p:spPr>
          <a:xfrm>
            <a:off x="8299440" y="3741480"/>
            <a:ext cx="31492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تجميع الخدمات في بيئة معزولة واحدة تعمل بنقرة واحدة على أي جهاز محلي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10"/>
          <p:cNvSpPr/>
          <p:nvPr/>
        </p:nvSpPr>
        <p:spPr>
          <a:xfrm>
            <a:off x="4363560" y="3170160"/>
            <a:ext cx="33066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Redis &amp; Celery Workers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11"/>
          <p:cNvSpPr/>
          <p:nvPr/>
        </p:nvSpPr>
        <p:spPr>
          <a:xfrm>
            <a:off x="4521240" y="3732120"/>
            <a:ext cx="31492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إدارة الطوابير خلف كواليس النظام لمعالجة التضمينات وحساب الملفات دون تجميد الواجهة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Box 12"/>
          <p:cNvSpPr/>
          <p:nvPr/>
        </p:nvSpPr>
        <p:spPr>
          <a:xfrm>
            <a:off x="585360" y="3170160"/>
            <a:ext cx="33066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تكامل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 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Java Runtime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Box 13"/>
          <p:cNvSpPr/>
          <p:nvPr/>
        </p:nvSpPr>
        <p:spPr>
          <a:xfrm>
            <a:off x="742680" y="3732120"/>
            <a:ext cx="31492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تضمين بيئة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Java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الجاهزة لخدمة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Farasa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داخل نفس الحاوية البرمجية لضمان السرعة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6" name="Picture 14" descr="image.png"/>
          <p:cNvPicPr/>
          <p:nvPr/>
        </p:nvPicPr>
        <p:blipFill>
          <a:blip r:embed="rId7"/>
          <a:stretch/>
        </p:blipFill>
        <p:spPr>
          <a:xfrm>
            <a:off x="11039400" y="2627280"/>
            <a:ext cx="409320" cy="323640"/>
          </a:xfrm>
          <a:prstGeom prst="rect">
            <a:avLst/>
          </a:prstGeom>
          <a:ln w="0">
            <a:noFill/>
          </a:ln>
        </p:spPr>
      </p:pic>
      <p:pic>
        <p:nvPicPr>
          <p:cNvPr id="317" name="Picture 15" descr="image.png"/>
          <p:cNvPicPr/>
          <p:nvPr/>
        </p:nvPicPr>
        <p:blipFill>
          <a:blip r:embed="rId8"/>
          <a:stretch/>
        </p:blipFill>
        <p:spPr>
          <a:xfrm>
            <a:off x="7385040" y="2627280"/>
            <a:ext cx="285480" cy="323640"/>
          </a:xfrm>
          <a:prstGeom prst="rect">
            <a:avLst/>
          </a:prstGeom>
          <a:ln w="0">
            <a:noFill/>
          </a:ln>
        </p:spPr>
      </p:pic>
      <p:pic>
        <p:nvPicPr>
          <p:cNvPr id="318" name="Picture 16" descr="image.png"/>
          <p:cNvPicPr/>
          <p:nvPr/>
        </p:nvPicPr>
        <p:blipFill>
          <a:blip r:embed="rId9"/>
          <a:stretch/>
        </p:blipFill>
        <p:spPr>
          <a:xfrm>
            <a:off x="3568680" y="2627280"/>
            <a:ext cx="323640" cy="32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20" name="Picture 2" descr="image.png"/>
          <p:cNvPicPr/>
          <p:nvPr/>
        </p:nvPicPr>
        <p:blipFill>
          <a:blip r:embed="rId2"/>
          <a:stretch/>
        </p:blipFill>
        <p:spPr>
          <a:xfrm>
            <a:off x="523800" y="2266920"/>
            <a:ext cx="5405040" cy="742680"/>
          </a:xfrm>
          <a:prstGeom prst="rect">
            <a:avLst/>
          </a:prstGeom>
          <a:ln w="0">
            <a:noFill/>
          </a:ln>
        </p:spPr>
      </p:pic>
      <p:pic>
        <p:nvPicPr>
          <p:cNvPr id="321" name="Picture 3" descr="image.png"/>
          <p:cNvPicPr/>
          <p:nvPr/>
        </p:nvPicPr>
        <p:blipFill>
          <a:blip r:embed="rId3"/>
          <a:stretch/>
        </p:blipFill>
        <p:spPr>
          <a:xfrm>
            <a:off x="523800" y="3514680"/>
            <a:ext cx="5405040" cy="742680"/>
          </a:xfrm>
          <a:prstGeom prst="rect">
            <a:avLst/>
          </a:prstGeom>
          <a:ln w="0">
            <a:noFill/>
          </a:ln>
        </p:spPr>
      </p:pic>
      <p:pic>
        <p:nvPicPr>
          <p:cNvPr id="322" name="Picture 4" descr="image.png"/>
          <p:cNvPicPr/>
          <p:nvPr/>
        </p:nvPicPr>
        <p:blipFill>
          <a:blip r:embed="rId4"/>
          <a:stretch/>
        </p:blipFill>
        <p:spPr>
          <a:xfrm>
            <a:off x="523800" y="4762440"/>
            <a:ext cx="5405040" cy="742680"/>
          </a:xfrm>
          <a:prstGeom prst="rect">
            <a:avLst/>
          </a:prstGeom>
          <a:ln w="0">
            <a:noFill/>
          </a:ln>
        </p:spPr>
      </p:pic>
      <p:sp>
        <p:nvSpPr>
          <p:cNvPr id="323" name="TextBox 5"/>
          <p:cNvSpPr/>
          <p:nvPr/>
        </p:nvSpPr>
        <p:spPr>
          <a:xfrm>
            <a:off x="4676760" y="428760"/>
            <a:ext cx="7340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الرابع: دورة التغذية الراجعة والتكيف التراكمي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4" name="Picture 6" descr="image.png"/>
          <p:cNvPicPr/>
          <p:nvPr/>
        </p:nvPicPr>
        <p:blipFill>
          <a:blip r:embed="rId5"/>
          <a:stretch/>
        </p:blipFill>
        <p:spPr>
          <a:xfrm>
            <a:off x="523800" y="552600"/>
            <a:ext cx="952200" cy="323640"/>
          </a:xfrm>
          <a:prstGeom prst="rect">
            <a:avLst/>
          </a:prstGeom>
          <a:ln w="0">
            <a:noFill/>
          </a:ln>
        </p:spPr>
      </p:pic>
      <p:sp>
        <p:nvSpPr>
          <p:cNvPr id="325" name="TextBox 7"/>
          <p:cNvSpPr/>
          <p:nvPr/>
        </p:nvSpPr>
        <p:spPr>
          <a:xfrm>
            <a:off x="6262560" y="2834640"/>
            <a:ext cx="5062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قبول الاقتراح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(Accept):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يُحفظ النص المولد مباشرة في سجل النماذج الناجحة ويعزز الوزن الأسلوبي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8"/>
          <p:cNvSpPr/>
          <p:nvPr/>
        </p:nvSpPr>
        <p:spPr>
          <a:xfrm>
            <a:off x="6262560" y="3535560"/>
            <a:ext cx="5062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رفض الاقتراح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(Reject):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يُسجل النص كعينة سلبية ويتم تحليل سبب الابتعاد لتعديل المعاملات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9"/>
          <p:cNvSpPr/>
          <p:nvPr/>
        </p:nvSpPr>
        <p:spPr>
          <a:xfrm>
            <a:off x="6262560" y="4236840"/>
            <a:ext cx="5062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التعديل اليدوي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(Edit &amp; Accept):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يستخرج النظام الفرق الصرفي بين توليد الذكاء الاصطناعي وتعديل الكاتب لتحديث الملف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10"/>
          <p:cNvSpPr/>
          <p:nvPr/>
        </p:nvSpPr>
        <p:spPr>
          <a:xfrm>
            <a:off x="588600" y="2457360"/>
            <a:ext cx="52754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1. </a:t>
            </a: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اقتراح النص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9" name="Picture 11" descr="image.png"/>
          <p:cNvPicPr/>
          <p:nvPr/>
        </p:nvPicPr>
        <p:blipFill>
          <a:blip r:embed="rId6"/>
          <a:stretch/>
        </p:blipFill>
        <p:spPr>
          <a:xfrm>
            <a:off x="3145680" y="3124080"/>
            <a:ext cx="161640" cy="209160"/>
          </a:xfrm>
          <a:prstGeom prst="rect">
            <a:avLst/>
          </a:prstGeom>
          <a:ln w="0">
            <a:noFill/>
          </a:ln>
        </p:spPr>
      </p:pic>
      <p:sp>
        <p:nvSpPr>
          <p:cNvPr id="330" name="TextBox 12"/>
          <p:cNvSpPr/>
          <p:nvPr/>
        </p:nvSpPr>
        <p:spPr>
          <a:xfrm>
            <a:off x="588600" y="3705120"/>
            <a:ext cx="52754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2. </a:t>
            </a: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قرار الكاتب (قبول / تعديل / رفض)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1" name="Picture 13" descr="image.png"/>
          <p:cNvPicPr/>
          <p:nvPr/>
        </p:nvPicPr>
        <p:blipFill>
          <a:blip r:embed="rId7"/>
          <a:stretch/>
        </p:blipFill>
        <p:spPr>
          <a:xfrm>
            <a:off x="3145680" y="4371840"/>
            <a:ext cx="161640" cy="209160"/>
          </a:xfrm>
          <a:prstGeom prst="rect">
            <a:avLst/>
          </a:prstGeom>
          <a:ln w="0">
            <a:noFill/>
          </a:ln>
        </p:spPr>
      </p:pic>
      <p:sp>
        <p:nvSpPr>
          <p:cNvPr id="332" name="TextBox 14"/>
          <p:cNvSpPr/>
          <p:nvPr/>
        </p:nvSpPr>
        <p:spPr>
          <a:xfrm>
            <a:off x="588600" y="4952880"/>
            <a:ext cx="52754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80" spc="-1" strike="noStrike">
                <a:solidFill>
                  <a:srgbClr val="0f172a"/>
                </a:solidFill>
                <a:latin typeface="Cairo"/>
              </a:rPr>
              <a:t>3. </a:t>
            </a: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تحديث سجل الأنماط ورسم الصوت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3" name="Picture 15" descr="image.png"/>
          <p:cNvPicPr/>
          <p:nvPr/>
        </p:nvPicPr>
        <p:blipFill>
          <a:blip r:embed="rId8"/>
          <a:stretch/>
        </p:blipFill>
        <p:spPr>
          <a:xfrm>
            <a:off x="11477520" y="286812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334" name="Picture 16" descr="image.png"/>
          <p:cNvPicPr/>
          <p:nvPr/>
        </p:nvPicPr>
        <p:blipFill>
          <a:blip r:embed="rId9"/>
          <a:stretch/>
        </p:blipFill>
        <p:spPr>
          <a:xfrm>
            <a:off x="11477520" y="356904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335" name="Picture 17" descr="image.png"/>
          <p:cNvPicPr/>
          <p:nvPr/>
        </p:nvPicPr>
        <p:blipFill>
          <a:blip r:embed="rId10"/>
          <a:stretch/>
        </p:blipFill>
        <p:spPr>
          <a:xfrm>
            <a:off x="11477520" y="4269960"/>
            <a:ext cx="190080" cy="19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37" name="Picture 2" descr="image.png"/>
          <p:cNvPicPr/>
          <p:nvPr/>
        </p:nvPicPr>
        <p:blipFill>
          <a:blip r:embed="rId2"/>
          <a:stretch/>
        </p:blipFill>
        <p:spPr>
          <a:xfrm>
            <a:off x="523800" y="3561480"/>
            <a:ext cx="11143800" cy="1885680"/>
          </a:xfrm>
          <a:prstGeom prst="rect">
            <a:avLst/>
          </a:prstGeom>
          <a:ln w="0">
            <a:noFill/>
          </a:ln>
        </p:spPr>
      </p:pic>
      <p:pic>
        <p:nvPicPr>
          <p:cNvPr id="338" name="Picture 3" descr="image.png"/>
          <p:cNvPicPr/>
          <p:nvPr/>
        </p:nvPicPr>
        <p:blipFill>
          <a:blip r:embed="rId3"/>
          <a:stretch/>
        </p:blipFill>
        <p:spPr>
          <a:xfrm>
            <a:off x="9024840" y="2324880"/>
            <a:ext cx="2642760" cy="1045440"/>
          </a:xfrm>
          <a:prstGeom prst="rect">
            <a:avLst/>
          </a:prstGeom>
          <a:ln w="0">
            <a:noFill/>
          </a:ln>
        </p:spPr>
      </p:pic>
      <p:pic>
        <p:nvPicPr>
          <p:cNvPr id="339" name="Picture 4" descr="image.png"/>
          <p:cNvPicPr/>
          <p:nvPr/>
        </p:nvPicPr>
        <p:blipFill>
          <a:blip r:embed="rId4"/>
          <a:stretch/>
        </p:blipFill>
        <p:spPr>
          <a:xfrm>
            <a:off x="6191280" y="2324880"/>
            <a:ext cx="2642760" cy="1045440"/>
          </a:xfrm>
          <a:prstGeom prst="rect">
            <a:avLst/>
          </a:prstGeom>
          <a:ln w="0">
            <a:noFill/>
          </a:ln>
        </p:spPr>
      </p:pic>
      <p:pic>
        <p:nvPicPr>
          <p:cNvPr id="340" name="Picture 5" descr="image.png"/>
          <p:cNvPicPr/>
          <p:nvPr/>
        </p:nvPicPr>
        <p:blipFill>
          <a:blip r:embed="rId5"/>
          <a:stretch/>
        </p:blipFill>
        <p:spPr>
          <a:xfrm>
            <a:off x="3357720" y="2324880"/>
            <a:ext cx="2642760" cy="1045440"/>
          </a:xfrm>
          <a:prstGeom prst="rect">
            <a:avLst/>
          </a:prstGeom>
          <a:ln w="0">
            <a:noFill/>
          </a:ln>
        </p:spPr>
      </p:pic>
      <p:pic>
        <p:nvPicPr>
          <p:cNvPr id="341" name="Picture 6" descr="image.png"/>
          <p:cNvPicPr/>
          <p:nvPr/>
        </p:nvPicPr>
        <p:blipFill>
          <a:blip r:embed="rId6"/>
          <a:stretch/>
        </p:blipFill>
        <p:spPr>
          <a:xfrm>
            <a:off x="523800" y="2324880"/>
            <a:ext cx="2642760" cy="1045440"/>
          </a:xfrm>
          <a:prstGeom prst="rect">
            <a:avLst/>
          </a:prstGeom>
          <a:ln w="0">
            <a:noFill/>
          </a:ln>
        </p:spPr>
      </p:pic>
      <p:sp>
        <p:nvSpPr>
          <p:cNvPr id="342" name="TextBox 7"/>
          <p:cNvSpPr/>
          <p:nvPr/>
        </p:nvSpPr>
        <p:spPr>
          <a:xfrm>
            <a:off x="5238720" y="428760"/>
            <a:ext cx="67503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الخامس: اختبارات الجودة التحقق البرمجي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3" name="Picture 8" descr="image.png"/>
          <p:cNvPicPr/>
          <p:nvPr/>
        </p:nvPicPr>
        <p:blipFill>
          <a:blip r:embed="rId7"/>
          <a:stretch/>
        </p:blipFill>
        <p:spPr>
          <a:xfrm>
            <a:off x="523800" y="552600"/>
            <a:ext cx="1142640" cy="323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344" name="Table 9"/>
          <p:cNvGraphicFramePr/>
          <p:nvPr/>
        </p:nvGraphicFramePr>
        <p:xfrm>
          <a:off x="533520" y="3570840"/>
          <a:ext cx="11124720" cy="1866600"/>
        </p:xfrm>
        <a:graphic>
          <a:graphicData uri="http://schemas.openxmlformats.org/drawingml/2006/table">
            <a:tbl>
              <a:tblPr/>
              <a:tblGrid>
                <a:gridCol w="3115800"/>
                <a:gridCol w="5111640"/>
                <a:gridCol w="2897280"/>
              </a:tblGrid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فئة الاختبارات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النطاق والهدف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النتيجة والتأكيد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اختبارات المعالجة الصرفية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التحقق من دقة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Farasa </a:t>
                      </a: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و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spaCy </a:t>
                      </a: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في استخراج الجذور والجمل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نجاح 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100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% بدون استثناءات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Java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اختبارات بناء الموجّه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التأكد من التدميج الصحيح لمؤشرات الصوت و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DNA </a:t>
                      </a: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المشروع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تطابق تام للموجهات المخرجة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اختبارات قاعدة البيانات المتجهة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التحقق من عمليات استرجاع التشابه بـ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Pgvector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دقة استرجاع أعلى من 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92</a:t>
                      </a: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%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5" name="TextBox 10"/>
          <p:cNvSpPr/>
          <p:nvPr/>
        </p:nvSpPr>
        <p:spPr>
          <a:xfrm>
            <a:off x="9225000" y="2525040"/>
            <a:ext cx="2204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135"/>
              </a:lnSpc>
            </a:pPr>
            <a:r>
              <a:rPr b="0" lang="en-US" sz="2850" spc="-1" strike="noStrike">
                <a:solidFill>
                  <a:srgbClr val="0f172a"/>
                </a:solidFill>
                <a:latin typeface="Cairo ExtraBold"/>
              </a:rPr>
              <a:t>115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11"/>
          <p:cNvSpPr/>
          <p:nvPr/>
        </p:nvSpPr>
        <p:spPr>
          <a:xfrm>
            <a:off x="9225000" y="2999160"/>
            <a:ext cx="22046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130" spc="-1" strike="noStrike">
                <a:solidFill>
                  <a:srgbClr val="475569"/>
                </a:solidFill>
                <a:latin typeface="Tajawal"/>
              </a:rPr>
              <a:t>اختبار آلي ناجح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12"/>
          <p:cNvSpPr/>
          <p:nvPr/>
        </p:nvSpPr>
        <p:spPr>
          <a:xfrm>
            <a:off x="6391440" y="2525040"/>
            <a:ext cx="2204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135"/>
              </a:lnSpc>
            </a:pPr>
            <a:r>
              <a:rPr b="0" lang="en-US" sz="2850" spc="-1" strike="noStrike">
                <a:solidFill>
                  <a:srgbClr val="0f172a"/>
                </a:solidFill>
                <a:latin typeface="Cairo ExtraBold"/>
              </a:rPr>
              <a:t>0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13"/>
          <p:cNvSpPr/>
          <p:nvPr/>
        </p:nvSpPr>
        <p:spPr>
          <a:xfrm>
            <a:off x="6391440" y="2999160"/>
            <a:ext cx="22046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130" spc="-1" strike="noStrike">
                <a:solidFill>
                  <a:srgbClr val="475569"/>
                </a:solidFill>
                <a:latin typeface="Tajawal"/>
              </a:rPr>
              <a:t>اخفاقات في الاختبارات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14"/>
          <p:cNvSpPr/>
          <p:nvPr/>
        </p:nvSpPr>
        <p:spPr>
          <a:xfrm>
            <a:off x="3557520" y="2525040"/>
            <a:ext cx="2204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135"/>
              </a:lnSpc>
            </a:pPr>
            <a:r>
              <a:rPr b="0" lang="en-US" sz="2850" spc="-1" strike="noStrike">
                <a:solidFill>
                  <a:srgbClr val="0f172a"/>
                </a:solidFill>
                <a:latin typeface="Cairo ExtraBold"/>
              </a:rPr>
              <a:t>88%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Box 15"/>
          <p:cNvSpPr/>
          <p:nvPr/>
        </p:nvSpPr>
        <p:spPr>
          <a:xfrm>
            <a:off x="3557520" y="2999160"/>
            <a:ext cx="22046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130" spc="-1" strike="noStrike">
                <a:solidFill>
                  <a:srgbClr val="475569"/>
                </a:solidFill>
                <a:latin typeface="Tajawal"/>
              </a:rPr>
              <a:t>تغطية الشفرة البرمجية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16"/>
          <p:cNvSpPr/>
          <p:nvPr/>
        </p:nvSpPr>
        <p:spPr>
          <a:xfrm>
            <a:off x="723960" y="2525040"/>
            <a:ext cx="2204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135"/>
              </a:lnSpc>
            </a:pPr>
            <a:r>
              <a:rPr b="0" lang="en-US" sz="2850" spc="-1" strike="noStrike">
                <a:solidFill>
                  <a:srgbClr val="0f172a"/>
                </a:solidFill>
                <a:latin typeface="Cairo ExtraBold"/>
              </a:rPr>
              <a:t>48s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17"/>
          <p:cNvSpPr/>
          <p:nvPr/>
        </p:nvSpPr>
        <p:spPr>
          <a:xfrm>
            <a:off x="723960" y="2999160"/>
            <a:ext cx="22046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130" spc="-1" strike="noStrike">
                <a:solidFill>
                  <a:srgbClr val="475569"/>
                </a:solidFill>
                <a:latin typeface="Tajawal"/>
              </a:rPr>
              <a:t>زمن البناء والإطلاق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Rectangle 18"/>
          <p:cNvSpPr/>
          <p:nvPr/>
        </p:nvSpPr>
        <p:spPr>
          <a:xfrm>
            <a:off x="8542440" y="4023360"/>
            <a:ext cx="31158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Rectangle 19"/>
          <p:cNvSpPr/>
          <p:nvPr/>
        </p:nvSpPr>
        <p:spPr>
          <a:xfrm>
            <a:off x="3430800" y="4023360"/>
            <a:ext cx="5111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Rectangle 20"/>
          <p:cNvSpPr/>
          <p:nvPr/>
        </p:nvSpPr>
        <p:spPr>
          <a:xfrm>
            <a:off x="533520" y="4023360"/>
            <a:ext cx="28969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6" name="Rectangle 21"/>
          <p:cNvSpPr/>
          <p:nvPr/>
        </p:nvSpPr>
        <p:spPr>
          <a:xfrm>
            <a:off x="8542440" y="4489920"/>
            <a:ext cx="31158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Rectangle 22"/>
          <p:cNvSpPr/>
          <p:nvPr/>
        </p:nvSpPr>
        <p:spPr>
          <a:xfrm>
            <a:off x="3430800" y="4489920"/>
            <a:ext cx="5111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8" name="Rectangle 23"/>
          <p:cNvSpPr/>
          <p:nvPr/>
        </p:nvSpPr>
        <p:spPr>
          <a:xfrm>
            <a:off x="533520" y="4489920"/>
            <a:ext cx="28969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Rectangle 24"/>
          <p:cNvSpPr/>
          <p:nvPr/>
        </p:nvSpPr>
        <p:spPr>
          <a:xfrm>
            <a:off x="8542440" y="4956840"/>
            <a:ext cx="31158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0" name="Rectangle 25"/>
          <p:cNvSpPr/>
          <p:nvPr/>
        </p:nvSpPr>
        <p:spPr>
          <a:xfrm>
            <a:off x="3430800" y="4956840"/>
            <a:ext cx="5111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Rectangle 26"/>
          <p:cNvSpPr/>
          <p:nvPr/>
        </p:nvSpPr>
        <p:spPr>
          <a:xfrm>
            <a:off x="533520" y="4956840"/>
            <a:ext cx="28969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Rectangle 27"/>
          <p:cNvSpPr/>
          <p:nvPr/>
        </p:nvSpPr>
        <p:spPr>
          <a:xfrm>
            <a:off x="8542440" y="5423400"/>
            <a:ext cx="31158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Rectangle 28"/>
          <p:cNvSpPr/>
          <p:nvPr/>
        </p:nvSpPr>
        <p:spPr>
          <a:xfrm>
            <a:off x="3430800" y="5423400"/>
            <a:ext cx="5111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Rectangle 29"/>
          <p:cNvSpPr/>
          <p:nvPr/>
        </p:nvSpPr>
        <p:spPr>
          <a:xfrm>
            <a:off x="533520" y="5423400"/>
            <a:ext cx="28969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66" name="Picture 2" descr="image.png"/>
          <p:cNvPicPr/>
          <p:nvPr/>
        </p:nvPicPr>
        <p:blipFill>
          <a:blip r:embed="rId2"/>
          <a:stretch/>
        </p:blipFill>
        <p:spPr>
          <a:xfrm>
            <a:off x="523800" y="2057400"/>
            <a:ext cx="5405040" cy="3657240"/>
          </a:xfrm>
          <a:prstGeom prst="rect">
            <a:avLst/>
          </a:prstGeom>
          <a:ln w="0">
            <a:noFill/>
          </a:ln>
        </p:spPr>
      </p:pic>
      <p:sp>
        <p:nvSpPr>
          <p:cNvPr id="367" name="TextBox 3"/>
          <p:cNvSpPr/>
          <p:nvPr/>
        </p:nvSpPr>
        <p:spPr>
          <a:xfrm>
            <a:off x="5238720" y="428760"/>
            <a:ext cx="67503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الخامس: نتائج تقييم تطابق الصوت الأدبي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8" name="Picture 4" descr="image.png"/>
          <p:cNvPicPr/>
          <p:nvPr/>
        </p:nvPicPr>
        <p:blipFill>
          <a:blip r:embed="rId3"/>
          <a:stretch/>
        </p:blipFill>
        <p:spPr>
          <a:xfrm>
            <a:off x="523800" y="552600"/>
            <a:ext cx="1142640" cy="323640"/>
          </a:xfrm>
          <a:prstGeom prst="rect">
            <a:avLst/>
          </a:prstGeom>
          <a:ln w="0">
            <a:noFill/>
          </a:ln>
        </p:spPr>
      </p:pic>
      <p:sp>
        <p:nvSpPr>
          <p:cNvPr id="369" name="TextBox 5"/>
          <p:cNvSpPr/>
          <p:nvPr/>
        </p:nvSpPr>
        <p:spPr>
          <a:xfrm>
            <a:off x="6262560" y="2411640"/>
            <a:ext cx="56754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قياس نسبة تطابق النص المولد مع صوت الكاتب الأصلي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6"/>
          <p:cNvSpPr/>
          <p:nvPr/>
        </p:nvSpPr>
        <p:spPr>
          <a:xfrm>
            <a:off x="6262560" y="2973600"/>
            <a:ext cx="54050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تم إجراء تقييم تجريبي مقارن لقياس نسبة الاقتراب من الخصائص الأسلوبية للكاتب عبر أربع مراحل من الحقن التدريجي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: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7"/>
          <p:cNvSpPr/>
          <p:nvPr/>
        </p:nvSpPr>
        <p:spPr>
          <a:xfrm>
            <a:off x="598680" y="2257200"/>
            <a:ext cx="52552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200" spc="-1" strike="noStrike">
                <a:solidFill>
                  <a:srgbClr val="0f172a"/>
                </a:solidFill>
                <a:latin typeface="Cairo"/>
              </a:rPr>
              <a:t>نسب التطابق الأسلوبي</a:t>
            </a:r>
            <a:r>
              <a:rPr b="1" lang="en-US" sz="1200" spc="-1" strike="noStrike">
                <a:solidFill>
                  <a:srgbClr val="0f172a"/>
                </a:solidFill>
                <a:latin typeface="Cairo"/>
              </a:rPr>
              <a:t> </a:t>
            </a:r>
            <a:r>
              <a:rPr b="1" lang="en-US" sz="1200" spc="-1" strike="noStrike">
                <a:solidFill>
                  <a:srgbClr val="0f172a"/>
                </a:solidFill>
                <a:latin typeface="Cairo"/>
              </a:rPr>
              <a:t>(%)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2" name="Picture 8" descr="image.png"/>
          <p:cNvPicPr/>
          <p:nvPr/>
        </p:nvPicPr>
        <p:blipFill>
          <a:blip r:embed="rId4"/>
          <a:stretch/>
        </p:blipFill>
        <p:spPr>
          <a:xfrm>
            <a:off x="723960" y="2685960"/>
            <a:ext cx="5005080" cy="2752560"/>
          </a:xfrm>
          <a:prstGeom prst="rect">
            <a:avLst/>
          </a:prstGeom>
          <a:ln w="0">
            <a:noFill/>
          </a:ln>
        </p:spPr>
      </p:pic>
      <p:sp>
        <p:nvSpPr>
          <p:cNvPr id="373" name="TextBox 9"/>
          <p:cNvSpPr/>
          <p:nvPr/>
        </p:nvSpPr>
        <p:spPr>
          <a:xfrm>
            <a:off x="6262560" y="3653640"/>
            <a:ext cx="5062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الموجّه العادي دون ملف: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32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% مطابقة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10"/>
          <p:cNvSpPr/>
          <p:nvPr/>
        </p:nvSpPr>
        <p:spPr>
          <a:xfrm>
            <a:off x="6262560" y="4080240"/>
            <a:ext cx="5062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حقن طول الجملة فقط: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54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% مطابقة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Box 11"/>
          <p:cNvSpPr/>
          <p:nvPr/>
        </p:nvSpPr>
        <p:spPr>
          <a:xfrm>
            <a:off x="6262560" y="4506840"/>
            <a:ext cx="5062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حقن المفردات والترقيم: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68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% مطابقة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Box 12"/>
          <p:cNvSpPr/>
          <p:nvPr/>
        </p:nvSpPr>
        <p:spPr>
          <a:xfrm>
            <a:off x="6262560" y="4933800"/>
            <a:ext cx="5062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rIns="0" tIns="0" bIns="0" anchor="t">
            <a:spAutoFit/>
          </a:bodyPr>
          <a:p>
            <a:pPr algn="r" defTabSz="457200">
              <a:lnSpc>
                <a:spcPts val="2160"/>
              </a:lnSpc>
            </a:pPr>
            <a:r>
              <a:rPr b="1" lang="hi-IN" sz="1350" spc="-1" strike="noStrike">
                <a:solidFill>
                  <a:srgbClr val="334155"/>
                </a:solidFill>
                <a:latin typeface="Tajawal"/>
              </a:rPr>
              <a:t>حقن الملف الكامل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 </a:t>
            </a:r>
            <a:r>
              <a:rPr b="1" lang="en-US" sz="1350" spc="-1" strike="noStrike">
                <a:solidFill>
                  <a:srgbClr val="334155"/>
                </a:solidFill>
                <a:latin typeface="Tajawal"/>
              </a:rPr>
              <a:t>+ DNA + RAG: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 84% </a:t>
            </a:r>
            <a:r>
              <a:rPr b="0" lang="hi-IN" sz="1350" spc="-1" strike="noStrike">
                <a:solidFill>
                  <a:srgbClr val="334155"/>
                </a:solidFill>
                <a:latin typeface="Tajawal"/>
              </a:rPr>
              <a:t>مطابقة</a:t>
            </a:r>
            <a:r>
              <a:rPr b="0" lang="en-US" sz="135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7" name="Picture 13" descr="image.png"/>
          <p:cNvPicPr/>
          <p:nvPr/>
        </p:nvPicPr>
        <p:blipFill>
          <a:blip r:embed="rId5"/>
          <a:stretch/>
        </p:blipFill>
        <p:spPr>
          <a:xfrm>
            <a:off x="11496600" y="368676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378" name="Picture 14" descr="image.png"/>
          <p:cNvPicPr/>
          <p:nvPr/>
        </p:nvPicPr>
        <p:blipFill>
          <a:blip r:embed="rId6"/>
          <a:stretch/>
        </p:blipFill>
        <p:spPr>
          <a:xfrm>
            <a:off x="11496600" y="411372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379" name="Picture 15" descr="image.png"/>
          <p:cNvPicPr/>
          <p:nvPr/>
        </p:nvPicPr>
        <p:blipFill>
          <a:blip r:embed="rId7"/>
          <a:stretch/>
        </p:blipFill>
        <p:spPr>
          <a:xfrm>
            <a:off x="11496600" y="454032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380" name="Picture 16" descr="image.png"/>
          <p:cNvPicPr/>
          <p:nvPr/>
        </p:nvPicPr>
        <p:blipFill>
          <a:blip r:embed="rId8"/>
          <a:stretch/>
        </p:blipFill>
        <p:spPr>
          <a:xfrm>
            <a:off x="11496600" y="4966920"/>
            <a:ext cx="171000" cy="19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82" name="Picture 2" descr="image.png"/>
          <p:cNvPicPr/>
          <p:nvPr/>
        </p:nvPicPr>
        <p:blipFill>
          <a:blip r:embed="rId2"/>
          <a:stretch/>
        </p:blipFill>
        <p:spPr>
          <a:xfrm>
            <a:off x="523800" y="2300400"/>
            <a:ext cx="11143800" cy="2352240"/>
          </a:xfrm>
          <a:prstGeom prst="rect">
            <a:avLst/>
          </a:prstGeom>
          <a:ln w="0">
            <a:noFill/>
          </a:ln>
        </p:spPr>
      </p:pic>
      <p:pic>
        <p:nvPicPr>
          <p:cNvPr id="383" name="Picture 3" descr="image.png"/>
          <p:cNvPicPr/>
          <p:nvPr/>
        </p:nvPicPr>
        <p:blipFill>
          <a:blip r:embed="rId3"/>
          <a:stretch/>
        </p:blipFill>
        <p:spPr>
          <a:xfrm>
            <a:off x="523800" y="4986360"/>
            <a:ext cx="11143800" cy="485280"/>
          </a:xfrm>
          <a:prstGeom prst="rect">
            <a:avLst/>
          </a:prstGeom>
          <a:ln w="0">
            <a:noFill/>
          </a:ln>
        </p:spPr>
      </p:pic>
      <p:sp>
        <p:nvSpPr>
          <p:cNvPr id="384" name="TextBox 4"/>
          <p:cNvSpPr/>
          <p:nvPr/>
        </p:nvSpPr>
        <p:spPr>
          <a:xfrm>
            <a:off x="6058080" y="428760"/>
            <a:ext cx="58903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الخامس: الأداء والاستجابة الحجمية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5" name="Picture 5" descr="image.png"/>
          <p:cNvPicPr/>
          <p:nvPr/>
        </p:nvPicPr>
        <p:blipFill>
          <a:blip r:embed="rId4"/>
          <a:stretch/>
        </p:blipFill>
        <p:spPr>
          <a:xfrm>
            <a:off x="523800" y="552600"/>
            <a:ext cx="1142640" cy="323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386" name="Table 6"/>
          <p:cNvGraphicFramePr/>
          <p:nvPr/>
        </p:nvGraphicFramePr>
        <p:xfrm>
          <a:off x="533520" y="2309760"/>
          <a:ext cx="11124720" cy="2333160"/>
        </p:xfrm>
        <a:graphic>
          <a:graphicData uri="http://schemas.openxmlformats.org/drawingml/2006/table">
            <a:tbl>
              <a:tblPr/>
              <a:tblGrid>
                <a:gridCol w="4206960"/>
                <a:gridCol w="2725560"/>
                <a:gridCol w="4192200"/>
              </a:tblGrid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المرحلة البرمجية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زمن المعالجة المتوسط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ffffff"/>
                          </a:solidFill>
                          <a:latin typeface="Cairo"/>
                        </a:rPr>
                        <a:t>مستوى التأثير على تجربة المستخدم</a:t>
                      </a:r>
                      <a:endParaRPr b="0" lang="en-US" sz="11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تحليل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Farasa </a:t>
                      </a: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الصرفي (عينة 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2000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كلمة)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340 ms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تخزين مؤقت يسري لمرة واحدة فقط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استرجاع المتجهات بـ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b="1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Pgvector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45 ms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فوري وسريع للغاية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تجميع وتنسيق طبقات الموجّه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12 ms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غير محسوس على الإطلاق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66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التوليد بواسطة النموذج اللغوي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1.2 - 2.8 s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hi-IN" sz="1130" spc="-1" strike="noStrike">
                          <a:solidFill>
                            <a:srgbClr val="334155"/>
                          </a:solidFill>
                          <a:latin typeface="Tajawal"/>
                        </a:rPr>
                        <a:t>يعتمد على سرعة النموذج وتدفق التوكنات</a:t>
                      </a:r>
                      <a:endParaRPr b="0" lang="en-US" sz="11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87" name="Rectangle 7"/>
          <p:cNvSpPr/>
          <p:nvPr/>
        </p:nvSpPr>
        <p:spPr>
          <a:xfrm>
            <a:off x="7451640" y="2762280"/>
            <a:ext cx="42066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Rectangle 8"/>
          <p:cNvSpPr/>
          <p:nvPr/>
        </p:nvSpPr>
        <p:spPr>
          <a:xfrm>
            <a:off x="4725720" y="2762280"/>
            <a:ext cx="2725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9" name="Rectangle 9"/>
          <p:cNvSpPr/>
          <p:nvPr/>
        </p:nvSpPr>
        <p:spPr>
          <a:xfrm>
            <a:off x="533520" y="2762280"/>
            <a:ext cx="4192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0" name="Rectangle 10"/>
          <p:cNvSpPr/>
          <p:nvPr/>
        </p:nvSpPr>
        <p:spPr>
          <a:xfrm>
            <a:off x="7451640" y="3228840"/>
            <a:ext cx="42066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Rectangle 11"/>
          <p:cNvSpPr/>
          <p:nvPr/>
        </p:nvSpPr>
        <p:spPr>
          <a:xfrm>
            <a:off x="4725720" y="3228840"/>
            <a:ext cx="2725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Rectangle 12"/>
          <p:cNvSpPr/>
          <p:nvPr/>
        </p:nvSpPr>
        <p:spPr>
          <a:xfrm>
            <a:off x="533520" y="3228840"/>
            <a:ext cx="4192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3" name="Rectangle 13"/>
          <p:cNvSpPr/>
          <p:nvPr/>
        </p:nvSpPr>
        <p:spPr>
          <a:xfrm>
            <a:off x="7451640" y="3695760"/>
            <a:ext cx="42066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Rectangle 14"/>
          <p:cNvSpPr/>
          <p:nvPr/>
        </p:nvSpPr>
        <p:spPr>
          <a:xfrm>
            <a:off x="4725720" y="3695760"/>
            <a:ext cx="2725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Rectangle 15"/>
          <p:cNvSpPr/>
          <p:nvPr/>
        </p:nvSpPr>
        <p:spPr>
          <a:xfrm>
            <a:off x="533520" y="3695760"/>
            <a:ext cx="4192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6" name="Rectangle 16"/>
          <p:cNvSpPr/>
          <p:nvPr/>
        </p:nvSpPr>
        <p:spPr>
          <a:xfrm>
            <a:off x="7451640" y="4162320"/>
            <a:ext cx="42066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Rectangle 17"/>
          <p:cNvSpPr/>
          <p:nvPr/>
        </p:nvSpPr>
        <p:spPr>
          <a:xfrm>
            <a:off x="4725720" y="4162320"/>
            <a:ext cx="2725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Rectangle 18"/>
          <p:cNvSpPr/>
          <p:nvPr/>
        </p:nvSpPr>
        <p:spPr>
          <a:xfrm>
            <a:off x="533520" y="4162320"/>
            <a:ext cx="4192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9" name="Rectangle 19"/>
          <p:cNvSpPr/>
          <p:nvPr/>
        </p:nvSpPr>
        <p:spPr>
          <a:xfrm>
            <a:off x="7451640" y="4629240"/>
            <a:ext cx="42066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Rectangle 20"/>
          <p:cNvSpPr/>
          <p:nvPr/>
        </p:nvSpPr>
        <p:spPr>
          <a:xfrm>
            <a:off x="4725720" y="4629240"/>
            <a:ext cx="2725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Rectangle 21"/>
          <p:cNvSpPr/>
          <p:nvPr/>
        </p:nvSpPr>
        <p:spPr>
          <a:xfrm>
            <a:off x="533520" y="4629240"/>
            <a:ext cx="4192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03" name="Picture 2" descr="image.png"/>
          <p:cNvPicPr/>
          <p:nvPr/>
        </p:nvPicPr>
        <p:blipFill>
          <a:blip r:embed="rId2"/>
          <a:stretch/>
        </p:blipFill>
        <p:spPr>
          <a:xfrm>
            <a:off x="8080200" y="2645280"/>
            <a:ext cx="3587400" cy="2481480"/>
          </a:xfrm>
          <a:prstGeom prst="rect">
            <a:avLst/>
          </a:prstGeom>
          <a:ln w="0">
            <a:noFill/>
          </a:ln>
        </p:spPr>
      </p:pic>
      <p:pic>
        <p:nvPicPr>
          <p:cNvPr id="404" name="Picture 3" descr="image.png"/>
          <p:cNvPicPr/>
          <p:nvPr/>
        </p:nvPicPr>
        <p:blipFill>
          <a:blip r:embed="rId3"/>
          <a:stretch/>
        </p:blipFill>
        <p:spPr>
          <a:xfrm>
            <a:off x="4302000" y="2645280"/>
            <a:ext cx="3587400" cy="2481480"/>
          </a:xfrm>
          <a:prstGeom prst="rect">
            <a:avLst/>
          </a:prstGeom>
          <a:ln w="0">
            <a:noFill/>
          </a:ln>
        </p:spPr>
      </p:pic>
      <p:pic>
        <p:nvPicPr>
          <p:cNvPr id="405" name="Picture 4" descr="image.png"/>
          <p:cNvPicPr/>
          <p:nvPr/>
        </p:nvPicPr>
        <p:blipFill>
          <a:blip r:embed="rId4"/>
          <a:stretch/>
        </p:blipFill>
        <p:spPr>
          <a:xfrm>
            <a:off x="523800" y="2645280"/>
            <a:ext cx="3587400" cy="2481480"/>
          </a:xfrm>
          <a:prstGeom prst="rect">
            <a:avLst/>
          </a:prstGeom>
          <a:ln w="0">
            <a:noFill/>
          </a:ln>
        </p:spPr>
      </p:pic>
      <p:sp>
        <p:nvSpPr>
          <p:cNvPr id="406" name="TextBox 5"/>
          <p:cNvSpPr/>
          <p:nvPr/>
        </p:nvSpPr>
        <p:spPr>
          <a:xfrm>
            <a:off x="5905440" y="428760"/>
            <a:ext cx="60505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السادس: المحددات والتحديات الفنية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7" name="Picture 6" descr="image.png"/>
          <p:cNvPicPr/>
          <p:nvPr/>
        </p:nvPicPr>
        <p:blipFill>
          <a:blip r:embed="rId5"/>
          <a:stretch/>
        </p:blipFill>
        <p:spPr>
          <a:xfrm>
            <a:off x="523800" y="552600"/>
            <a:ext cx="1152000" cy="323640"/>
          </a:xfrm>
          <a:prstGeom prst="rect">
            <a:avLst/>
          </a:prstGeom>
          <a:ln w="0">
            <a:noFill/>
          </a:ln>
        </p:spPr>
      </p:pic>
      <p:sp>
        <p:nvSpPr>
          <p:cNvPr id="408" name="TextBox 7"/>
          <p:cNvSpPr/>
          <p:nvPr/>
        </p:nvSpPr>
        <p:spPr>
          <a:xfrm>
            <a:off x="8141760" y="3407400"/>
            <a:ext cx="33066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اقلاع عملية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 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Java Farasa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Box 8"/>
          <p:cNvSpPr/>
          <p:nvPr/>
        </p:nvSpPr>
        <p:spPr>
          <a:xfrm>
            <a:off x="8299440" y="3969360"/>
            <a:ext cx="31492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تتطلب عملية تشغيل الجافا الأولى بضعة ثوانٍ عند إطلاق الحاوية لأول مرة قبل الجاهزية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Box 9"/>
          <p:cNvSpPr/>
          <p:nvPr/>
        </p:nvSpPr>
        <p:spPr>
          <a:xfrm>
            <a:off x="4363560" y="3407400"/>
            <a:ext cx="33066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المجاز والتشبيهات الفائقة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Box 10"/>
          <p:cNvSpPr/>
          <p:nvPr/>
        </p:nvSpPr>
        <p:spPr>
          <a:xfrm>
            <a:off x="4521240" y="3969360"/>
            <a:ext cx="31492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صعوبة القياس الإحصائي الصرف للاستعارات البلاغية المعقدة التي تتطلب تحليلاً دلالياً عميقاً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11"/>
          <p:cNvSpPr/>
          <p:nvPr/>
        </p:nvSpPr>
        <p:spPr>
          <a:xfrm>
            <a:off x="585360" y="3407400"/>
            <a:ext cx="33066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1650" spc="-1" strike="noStrike">
                <a:solidFill>
                  <a:srgbClr val="0f766e"/>
                </a:solidFill>
                <a:latin typeface="Cairo"/>
              </a:rPr>
              <a:t>متطلبات ذاكرة الـ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 </a:t>
            </a:r>
            <a:r>
              <a:rPr b="1" lang="en-US" sz="1650" spc="-1" strike="noStrike">
                <a:solidFill>
                  <a:srgbClr val="0f766e"/>
                </a:solidFill>
                <a:latin typeface="Cairo"/>
              </a:rPr>
              <a:t>GPU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Box 12"/>
          <p:cNvSpPr/>
          <p:nvPr/>
        </p:nvSpPr>
        <p:spPr>
          <a:xfrm>
            <a:off x="742680" y="3969360"/>
            <a:ext cx="31492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ts val="2038"/>
              </a:lnSpc>
            </a:pP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التشغيل المحلي الكامل بنسبة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100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% يتطلب ذاكرة فيديو لا تقل عن 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8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GB </a:t>
            </a:r>
            <a:r>
              <a:rPr b="0" lang="hi-IN" sz="1280" spc="-1" strike="noStrike">
                <a:solidFill>
                  <a:srgbClr val="334155"/>
                </a:solidFill>
                <a:latin typeface="Tajawal"/>
              </a:rPr>
              <a:t>لضمان سرعة معقولة</a:t>
            </a:r>
            <a:r>
              <a:rPr b="0" lang="en-US" sz="1280" spc="-1" strike="noStrike">
                <a:solidFill>
                  <a:srgbClr val="334155"/>
                </a:solidFill>
                <a:latin typeface="Tajawal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4" name="Picture 13" descr="image.png"/>
          <p:cNvPicPr/>
          <p:nvPr/>
        </p:nvPicPr>
        <p:blipFill>
          <a:blip r:embed="rId6"/>
          <a:stretch/>
        </p:blipFill>
        <p:spPr>
          <a:xfrm>
            <a:off x="11201400" y="2864520"/>
            <a:ext cx="247320" cy="323640"/>
          </a:xfrm>
          <a:prstGeom prst="rect">
            <a:avLst/>
          </a:prstGeom>
          <a:ln w="0">
            <a:noFill/>
          </a:ln>
        </p:spPr>
      </p:pic>
      <p:pic>
        <p:nvPicPr>
          <p:cNvPr id="415" name="Picture 14" descr="image.png"/>
          <p:cNvPicPr/>
          <p:nvPr/>
        </p:nvPicPr>
        <p:blipFill>
          <a:blip r:embed="rId7"/>
          <a:stretch/>
        </p:blipFill>
        <p:spPr>
          <a:xfrm>
            <a:off x="7346880" y="2864520"/>
            <a:ext cx="323640" cy="323640"/>
          </a:xfrm>
          <a:prstGeom prst="rect">
            <a:avLst/>
          </a:prstGeom>
          <a:ln w="0">
            <a:noFill/>
          </a:ln>
        </p:spPr>
      </p:pic>
      <p:pic>
        <p:nvPicPr>
          <p:cNvPr id="416" name="Picture 15" descr="image.png"/>
          <p:cNvPicPr/>
          <p:nvPr/>
        </p:nvPicPr>
        <p:blipFill>
          <a:blip r:embed="rId8"/>
          <a:stretch/>
        </p:blipFill>
        <p:spPr>
          <a:xfrm>
            <a:off x="3530520" y="2864520"/>
            <a:ext cx="361440" cy="32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18" name="Picture 2" descr="image.png"/>
          <p:cNvPicPr/>
          <p:nvPr/>
        </p:nvPicPr>
        <p:blipFill>
          <a:blip r:embed="rId2"/>
          <a:stretch/>
        </p:blipFill>
        <p:spPr>
          <a:xfrm>
            <a:off x="523800" y="4355640"/>
            <a:ext cx="11143800" cy="485280"/>
          </a:xfrm>
          <a:prstGeom prst="rect">
            <a:avLst/>
          </a:prstGeom>
          <a:ln w="0">
            <a:noFill/>
          </a:ln>
        </p:spPr>
      </p:pic>
      <p:pic>
        <p:nvPicPr>
          <p:cNvPr id="419" name="Picture 3" descr="image.png"/>
          <p:cNvPicPr/>
          <p:nvPr/>
        </p:nvPicPr>
        <p:blipFill>
          <a:blip r:embed="rId3"/>
          <a:stretch/>
        </p:blipFill>
        <p:spPr>
          <a:xfrm>
            <a:off x="9153360" y="2930760"/>
            <a:ext cx="2514240" cy="1138680"/>
          </a:xfrm>
          <a:prstGeom prst="rect">
            <a:avLst/>
          </a:prstGeom>
          <a:ln w="0">
            <a:noFill/>
          </a:ln>
        </p:spPr>
      </p:pic>
      <p:pic>
        <p:nvPicPr>
          <p:cNvPr id="420" name="Picture 4" descr="image.png"/>
          <p:cNvPicPr/>
          <p:nvPr/>
        </p:nvPicPr>
        <p:blipFill>
          <a:blip r:embed="rId4"/>
          <a:stretch/>
        </p:blipFill>
        <p:spPr>
          <a:xfrm>
            <a:off x="6276960" y="2930760"/>
            <a:ext cx="2514240" cy="1138680"/>
          </a:xfrm>
          <a:prstGeom prst="rect">
            <a:avLst/>
          </a:prstGeom>
          <a:ln w="0">
            <a:noFill/>
          </a:ln>
        </p:spPr>
      </p:pic>
      <p:pic>
        <p:nvPicPr>
          <p:cNvPr id="421" name="Picture 5" descr="image.png"/>
          <p:cNvPicPr/>
          <p:nvPr/>
        </p:nvPicPr>
        <p:blipFill>
          <a:blip r:embed="rId5"/>
          <a:stretch/>
        </p:blipFill>
        <p:spPr>
          <a:xfrm>
            <a:off x="3400560" y="2930760"/>
            <a:ext cx="2514240" cy="1138680"/>
          </a:xfrm>
          <a:prstGeom prst="rect">
            <a:avLst/>
          </a:prstGeom>
          <a:ln w="0">
            <a:noFill/>
          </a:ln>
        </p:spPr>
      </p:pic>
      <p:pic>
        <p:nvPicPr>
          <p:cNvPr id="422" name="Picture 6" descr="image.png"/>
          <p:cNvPicPr/>
          <p:nvPr/>
        </p:nvPicPr>
        <p:blipFill>
          <a:blip r:embed="rId6"/>
          <a:stretch/>
        </p:blipFill>
        <p:spPr>
          <a:xfrm>
            <a:off x="523800" y="2930760"/>
            <a:ext cx="2514240" cy="1138680"/>
          </a:xfrm>
          <a:prstGeom prst="rect">
            <a:avLst/>
          </a:prstGeom>
          <a:ln w="0">
            <a:noFill/>
          </a:ln>
        </p:spPr>
      </p:pic>
      <p:sp>
        <p:nvSpPr>
          <p:cNvPr id="423" name="TextBox 7"/>
          <p:cNvSpPr/>
          <p:nvPr/>
        </p:nvSpPr>
        <p:spPr>
          <a:xfrm>
            <a:off x="5057640" y="428760"/>
            <a:ext cx="694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hi-IN" sz="2400" spc="-1" strike="noStrike">
                <a:solidFill>
                  <a:srgbClr val="0f172a"/>
                </a:solidFill>
                <a:latin typeface="Cairo"/>
              </a:rPr>
              <a:t>الفصل السادس: الآفاق المستقبلية وخطة التطوير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4" name="Picture 8" descr="image.png"/>
          <p:cNvPicPr/>
          <p:nvPr/>
        </p:nvPicPr>
        <p:blipFill>
          <a:blip r:embed="rId7"/>
          <a:stretch/>
        </p:blipFill>
        <p:spPr>
          <a:xfrm>
            <a:off x="523800" y="552600"/>
            <a:ext cx="1152000" cy="323640"/>
          </a:xfrm>
          <a:prstGeom prst="rect">
            <a:avLst/>
          </a:prstGeom>
          <a:ln w="0">
            <a:noFill/>
          </a:ln>
        </p:spPr>
      </p:pic>
      <p:sp>
        <p:nvSpPr>
          <p:cNvPr id="425" name="TextBox 9"/>
          <p:cNvSpPr/>
          <p:nvPr/>
        </p:nvSpPr>
        <p:spPr>
          <a:xfrm>
            <a:off x="9290520" y="3121200"/>
            <a:ext cx="22399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الربع الأول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Box 10"/>
          <p:cNvSpPr/>
          <p:nvPr/>
        </p:nvSpPr>
        <p:spPr>
          <a:xfrm>
            <a:off x="9344160" y="3483360"/>
            <a:ext cx="21333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إضافة ملحق للمحررات الشهيرة مثل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 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VS Code </a:t>
            </a: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و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 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Obsidian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7" name="Picture 11" descr="image.png"/>
          <p:cNvPicPr/>
          <p:nvPr/>
        </p:nvPicPr>
        <p:blipFill>
          <a:blip r:embed="rId8"/>
          <a:stretch/>
        </p:blipFill>
        <p:spPr>
          <a:xfrm>
            <a:off x="8906040" y="3362400"/>
            <a:ext cx="132840" cy="209160"/>
          </a:xfrm>
          <a:prstGeom prst="rect">
            <a:avLst/>
          </a:prstGeom>
          <a:ln w="0">
            <a:noFill/>
          </a:ln>
        </p:spPr>
      </p:pic>
      <p:sp>
        <p:nvSpPr>
          <p:cNvPr id="428" name="TextBox 12"/>
          <p:cNvSpPr/>
          <p:nvPr/>
        </p:nvSpPr>
        <p:spPr>
          <a:xfrm>
            <a:off x="6414120" y="3121200"/>
            <a:ext cx="22399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الربع الثاني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Box 13"/>
          <p:cNvSpPr/>
          <p:nvPr/>
        </p:nvSpPr>
        <p:spPr>
          <a:xfrm>
            <a:off x="6467400" y="3483360"/>
            <a:ext cx="213336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دعم ملفات أسلوبية متعددة للشخصيات في الحوارات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0" name="Picture 14" descr="image.png"/>
          <p:cNvPicPr/>
          <p:nvPr/>
        </p:nvPicPr>
        <p:blipFill>
          <a:blip r:embed="rId9"/>
          <a:stretch/>
        </p:blipFill>
        <p:spPr>
          <a:xfrm>
            <a:off x="6029280" y="3362400"/>
            <a:ext cx="132840" cy="209160"/>
          </a:xfrm>
          <a:prstGeom prst="rect">
            <a:avLst/>
          </a:prstGeom>
          <a:ln w="0">
            <a:noFill/>
          </a:ln>
        </p:spPr>
      </p:pic>
      <p:sp>
        <p:nvSpPr>
          <p:cNvPr id="431" name="TextBox 15"/>
          <p:cNvSpPr/>
          <p:nvPr/>
        </p:nvSpPr>
        <p:spPr>
          <a:xfrm>
            <a:off x="3537720" y="3121200"/>
            <a:ext cx="22399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الربع الثالث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Box 16"/>
          <p:cNvSpPr/>
          <p:nvPr/>
        </p:nvSpPr>
        <p:spPr>
          <a:xfrm>
            <a:off x="3591000" y="3483360"/>
            <a:ext cx="21333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تدريب محولات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 </a:t>
            </a:r>
            <a:r>
              <a:rPr b="0" lang="en-US" sz="980" spc="-1" strike="noStrike">
                <a:solidFill>
                  <a:srgbClr val="64748b"/>
                </a:solidFill>
                <a:latin typeface="Tajawal"/>
              </a:rPr>
              <a:t>LoRA </a:t>
            </a: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خفيفة الوزن محلياً فوق النماذج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3" name="Picture 17" descr="image.png"/>
          <p:cNvPicPr/>
          <p:nvPr/>
        </p:nvPicPr>
        <p:blipFill>
          <a:blip r:embed="rId10"/>
          <a:stretch/>
        </p:blipFill>
        <p:spPr>
          <a:xfrm>
            <a:off x="3152880" y="3362400"/>
            <a:ext cx="132840" cy="209160"/>
          </a:xfrm>
          <a:prstGeom prst="rect">
            <a:avLst/>
          </a:prstGeom>
          <a:ln w="0">
            <a:noFill/>
          </a:ln>
        </p:spPr>
      </p:pic>
      <p:sp>
        <p:nvSpPr>
          <p:cNvPr id="434" name="TextBox 18"/>
          <p:cNvSpPr/>
          <p:nvPr/>
        </p:nvSpPr>
        <p:spPr>
          <a:xfrm>
            <a:off x="660960" y="3121200"/>
            <a:ext cx="22399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1280" spc="-1" strike="noStrike">
                <a:solidFill>
                  <a:srgbClr val="0f172a"/>
                </a:solidFill>
                <a:latin typeface="Cairo"/>
              </a:rPr>
              <a:t>الربع الرابع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19"/>
          <p:cNvSpPr/>
          <p:nvPr/>
        </p:nvSpPr>
        <p:spPr>
          <a:xfrm>
            <a:off x="714240" y="3483360"/>
            <a:ext cx="213336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hi-IN" sz="980" spc="-1" strike="noStrike">
                <a:solidFill>
                  <a:srgbClr val="64748b"/>
                </a:solidFill>
                <a:latin typeface="Tajawal"/>
              </a:rPr>
              <a:t>تطوير نظام تحرير صوتي مباشر متكامل للغة العربية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37" name="Picture 2" descr="image.png"/>
          <p:cNvPicPr/>
          <p:nvPr/>
        </p:nvPicPr>
        <p:blipFill>
          <a:blip r:embed="rId2"/>
          <a:stretch/>
        </p:blipFill>
        <p:spPr>
          <a:xfrm>
            <a:off x="3343320" y="2486160"/>
            <a:ext cx="5505120" cy="1424520"/>
          </a:xfrm>
          <a:prstGeom prst="rect">
            <a:avLst/>
          </a:prstGeom>
          <a:ln w="0">
            <a:noFill/>
          </a:ln>
        </p:spPr>
      </p:pic>
      <p:sp>
        <p:nvSpPr>
          <p:cNvPr id="438" name="TextBox 3"/>
          <p:cNvSpPr/>
          <p:nvPr/>
        </p:nvSpPr>
        <p:spPr>
          <a:xfrm>
            <a:off x="262080" y="428760"/>
            <a:ext cx="116676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4800" spc="-1" strike="noStrike">
                <a:solidFill>
                  <a:srgbClr val="0f172a"/>
                </a:solidFill>
                <a:latin typeface="Cairo"/>
              </a:rPr>
              <a:t>شكراً لاهتمامكم وحسن استماعكم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Box 4"/>
          <p:cNvSpPr/>
          <p:nvPr/>
        </p:nvSpPr>
        <p:spPr>
          <a:xfrm>
            <a:off x="523800" y="1714680"/>
            <a:ext cx="11143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2701"/>
              </a:lnSpc>
            </a:pPr>
            <a:r>
              <a:rPr b="0" lang="hi-IN" sz="1800" spc="-1" strike="noStrike">
                <a:solidFill>
                  <a:srgbClr val="0f766e"/>
                </a:solidFill>
                <a:latin typeface="Tajawal"/>
              </a:rPr>
              <a:t>مشروع فلوريش</a:t>
            </a:r>
            <a:r>
              <a:rPr b="0" lang="en-US" sz="1800" spc="-1" strike="noStrike">
                <a:solidFill>
                  <a:srgbClr val="0f766e"/>
                </a:solidFill>
                <a:latin typeface="Tajawal"/>
              </a:rPr>
              <a:t> </a:t>
            </a:r>
            <a:r>
              <a:rPr b="0" lang="en-US" sz="1800" spc="-1" strike="noStrike">
                <a:solidFill>
                  <a:srgbClr val="0f766e"/>
                </a:solidFill>
                <a:latin typeface="Tajawal"/>
              </a:rPr>
              <a:t>/ Flourish : </a:t>
            </a:r>
            <a:r>
              <a:rPr b="0" lang="hi-IN" sz="1800" spc="-1" strike="noStrike">
                <a:solidFill>
                  <a:srgbClr val="0f766e"/>
                </a:solidFill>
                <a:latin typeface="Tajawal"/>
              </a:rPr>
              <a:t>مساعد الكتابة الإبداعية الذكي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Box 5"/>
          <p:cNvSpPr/>
          <p:nvPr/>
        </p:nvSpPr>
        <p:spPr>
          <a:xfrm>
            <a:off x="3638520" y="2971800"/>
            <a:ext cx="4914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2401"/>
              </a:lnSpc>
            </a:pPr>
            <a:r>
              <a:rPr b="1" lang="hi-IN" sz="1500" spc="-1" strike="noStrike">
                <a:solidFill>
                  <a:srgbClr val="334155"/>
                </a:solidFill>
                <a:latin typeface="Tajawal"/>
              </a:rPr>
              <a:t>جاهزون لاستقبال أسئلة وملاحظات لجنة المناقشة الموقرة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6"/>
          <p:cNvSpPr/>
          <p:nvPr/>
        </p:nvSpPr>
        <p:spPr>
          <a:xfrm>
            <a:off x="3638520" y="3371760"/>
            <a:ext cx="49147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919"/>
              </a:lnSpc>
            </a:pPr>
            <a:r>
              <a:rPr b="0" lang="hi-IN" sz="1200" spc="-1" strike="noStrike">
                <a:solidFill>
                  <a:srgbClr val="64748b"/>
                </a:solidFill>
                <a:latin typeface="Tajawal"/>
              </a:rPr>
              <a:t>الجامعة الافتراضية السورية</a:t>
            </a:r>
            <a:r>
              <a:rPr b="0" lang="en-US" sz="1200" spc="-1" strike="noStrike">
                <a:solidFill>
                  <a:srgbClr val="64748b"/>
                </a:solidFill>
                <a:latin typeface="Tajawal"/>
              </a:rPr>
              <a:t> </a:t>
            </a:r>
            <a:r>
              <a:rPr b="0" lang="en-US" sz="1200" spc="-1" strike="noStrike">
                <a:solidFill>
                  <a:srgbClr val="64748b"/>
                </a:solidFill>
                <a:latin typeface="Tajawal"/>
              </a:rPr>
              <a:t>: S25 / BPR602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2026-09-10T15:46:29Z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